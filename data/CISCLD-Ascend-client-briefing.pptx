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C17"/>
        </a:solidFill>
        <a:effectLst/>
      </p:bgPr>
    </p:bg>
    <p:spTree>
      <p:nvGrpSpPr>
        <p:cNvPr id="1" name=""/>
        <p:cNvGrpSpPr/>
        <p:nvPr/>
      </p:nvGrpSpPr>
      <p:grpSpPr/>
      <p:sp>
        <p:nvSpPr>
          <p:cNvPr id="2" name="Rectangle 1"/>
          <p:cNvSpPr/>
          <p:nvPr/>
        </p:nvSpPr>
        <p:spPr>
          <a:xfrm>
            <a:off x="0" y="0"/>
            <a:ext cx="5120511" cy="82296"/>
          </a:xfrm>
          <a:prstGeom prst="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120511" y="0"/>
            <a:ext cx="3413674" cy="82296"/>
          </a:xfrm>
          <a:prstGeom prst="rect">
            <a:avLst/>
          </a:prstGeom>
          <a:solidFill>
            <a:srgbClr val="7A5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68580" cy="6858000"/>
          </a:xfrm>
          <a:prstGeom prst="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74519"/>
            <a:ext cx="9144000" cy="365760"/>
          </a:xfrm>
          <a:prstGeom prst="rect">
            <a:avLst/>
          </a:prstGeom>
          <a:noFill/>
        </p:spPr>
        <p:txBody>
          <a:bodyPr wrap="square" anchor="t" lIns="0" rIns="0" tIns="0" bIns="0">
            <a:spAutoFit/>
          </a:bodyPr>
          <a:lstStyle/>
          <a:p>
            <a:pPr algn="l">
              <a:lnSpc>
                <a:spcPct val="100000"/>
              </a:lnSpc>
            </a:pPr>
            <a:r>
              <a:rPr sz="1300" b="1">
                <a:solidFill>
                  <a:srgbClr val="9FACC4"/>
                </a:solidFill>
                <a:latin typeface="Consolas"/>
              </a:rPr>
              <a:t>C I S C L D</a:t>
            </a:r>
          </a:p>
        </p:txBody>
      </p:sp>
      <p:sp>
        <p:nvSpPr>
          <p:cNvPr id="6" name="TextBox 5"/>
          <p:cNvSpPr txBox="1"/>
          <p:nvPr/>
        </p:nvSpPr>
        <p:spPr>
          <a:xfrm>
            <a:off x="777240" y="2331720"/>
            <a:ext cx="10058400" cy="1371600"/>
          </a:xfrm>
          <a:prstGeom prst="rect">
            <a:avLst/>
          </a:prstGeom>
          <a:noFill/>
        </p:spPr>
        <p:txBody>
          <a:bodyPr wrap="square" anchor="t" lIns="0" rIns="0" tIns="0" bIns="0">
            <a:spAutoFit/>
          </a:bodyPr>
          <a:lstStyle/>
          <a:p>
            <a:pPr algn="l">
              <a:lnSpc>
                <a:spcPct val="100000"/>
              </a:lnSpc>
            </a:pPr>
            <a:r>
              <a:rPr sz="7400" b="1">
                <a:solidFill>
                  <a:srgbClr val="E8EDF7"/>
                </a:solidFill>
                <a:latin typeface="Segoe UI"/>
              </a:rPr>
              <a:t>Ascend</a:t>
            </a:r>
          </a:p>
        </p:txBody>
      </p:sp>
      <p:sp>
        <p:nvSpPr>
          <p:cNvPr id="7" name="TextBox 6"/>
          <p:cNvSpPr txBox="1"/>
          <p:nvPr/>
        </p:nvSpPr>
        <p:spPr>
          <a:xfrm>
            <a:off x="777240" y="3611880"/>
            <a:ext cx="10058400" cy="457200"/>
          </a:xfrm>
          <a:prstGeom prst="rect">
            <a:avLst/>
          </a:prstGeom>
          <a:noFill/>
        </p:spPr>
        <p:txBody>
          <a:bodyPr wrap="square" anchor="t" lIns="0" rIns="0" tIns="0" bIns="0">
            <a:spAutoFit/>
          </a:bodyPr>
          <a:lstStyle/>
          <a:p>
            <a:pPr algn="l">
              <a:lnSpc>
                <a:spcPct val="100000"/>
              </a:lnSpc>
            </a:pPr>
            <a:r>
              <a:rPr sz="1500" b="1">
                <a:solidFill>
                  <a:srgbClr val="3B6FD4"/>
                </a:solidFill>
                <a:latin typeface="Consolas"/>
              </a:rPr>
              <a:t>ON-PREM TO CLOUD DECISION SIMULATOR</a:t>
            </a:r>
          </a:p>
        </p:txBody>
      </p:sp>
      <p:sp>
        <p:nvSpPr>
          <p:cNvPr id="8" name="TextBox 7"/>
          <p:cNvSpPr txBox="1"/>
          <p:nvPr/>
        </p:nvSpPr>
        <p:spPr>
          <a:xfrm>
            <a:off x="777240" y="4343400"/>
            <a:ext cx="8412480" cy="1005840"/>
          </a:xfrm>
          <a:prstGeom prst="rect">
            <a:avLst/>
          </a:prstGeom>
          <a:noFill/>
        </p:spPr>
        <p:txBody>
          <a:bodyPr wrap="square" anchor="t" lIns="0" rIns="0" tIns="0" bIns="0">
            <a:spAutoFit/>
          </a:bodyPr>
          <a:lstStyle/>
          <a:p>
            <a:pPr algn="l">
              <a:lnSpc>
                <a:spcPct val="135000"/>
              </a:lnSpc>
            </a:pPr>
            <a:r>
              <a:rPr sz="1700" b="0">
                <a:solidFill>
                  <a:srgbClr val="9FACC4"/>
                </a:solidFill>
                <a:latin typeface="Segoe UI"/>
              </a:rPr>
              <a:t>A migration business case you can defend line by line — including the parts that argue against moving.</a:t>
            </a:r>
          </a:p>
        </p:txBody>
      </p:sp>
      <p:sp>
        <p:nvSpPr>
          <p:cNvPr id="9" name="Rectangle 8"/>
          <p:cNvSpPr/>
          <p:nvPr/>
        </p:nvSpPr>
        <p:spPr>
          <a:xfrm>
            <a:off x="777240" y="5532120"/>
            <a:ext cx="3840480" cy="18288"/>
          </a:xfrm>
          <a:prstGeom prst="rect">
            <a:avLst/>
          </a:prstGeom>
          <a:solidFill>
            <a:srgbClr val="2A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742432"/>
            <a:ext cx="7315200" cy="365760"/>
          </a:xfrm>
          <a:prstGeom prst="rect">
            <a:avLst/>
          </a:prstGeom>
          <a:noFill/>
        </p:spPr>
        <p:txBody>
          <a:bodyPr wrap="square" anchor="t" lIns="0" rIns="0" tIns="0" bIns="0">
            <a:spAutoFit/>
          </a:bodyPr>
          <a:lstStyle/>
          <a:p>
            <a:pPr algn="l">
              <a:lnSpc>
                <a:spcPct val="100000"/>
              </a:lnSpc>
            </a:pPr>
            <a:r>
              <a:rPr sz="1300" b="1">
                <a:solidFill>
                  <a:srgbClr val="E8EDF7"/>
                </a:solidFill>
                <a:latin typeface="Consolas"/>
              </a:rPr>
              <a:t>onpremtocloud.streamlit.app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nchor="t" lIns="0" rIns="0" tIns="0" bIns="0">
            <a:spAutoFit/>
          </a:bodyPr>
          <a:lstStyle/>
          <a:p>
            <a:pPr algn="l">
              <a:lnSpc>
                <a:spcPct val="100000"/>
              </a:lnSpc>
            </a:pPr>
            <a:r>
              <a:rPr sz="1100" b="1">
                <a:solidFill>
                  <a:srgbClr val="3B6FD4"/>
                </a:solidFill>
                <a:latin typeface="Segoe UI"/>
              </a:rPr>
              <a:t>THE SITUATION</a:t>
            </a:r>
          </a:p>
        </p:txBody>
      </p:sp>
      <p:sp>
        <p:nvSpPr>
          <p:cNvPr id="3" name="TextBox 2"/>
          <p:cNvSpPr txBox="1"/>
          <p:nvPr/>
        </p:nvSpPr>
        <p:spPr>
          <a:xfrm>
            <a:off x="777240" y="932688"/>
            <a:ext cx="10637215" cy="777240"/>
          </a:xfrm>
          <a:prstGeom prst="rect">
            <a:avLst/>
          </a:prstGeom>
          <a:noFill/>
        </p:spPr>
        <p:txBody>
          <a:bodyPr wrap="square" anchor="t" lIns="0" rIns="0" tIns="0" bIns="0">
            <a:spAutoFit/>
          </a:bodyPr>
          <a:lstStyle/>
          <a:p>
            <a:pPr algn="l">
              <a:lnSpc>
                <a:spcPct val="100000"/>
              </a:lnSpc>
            </a:pPr>
            <a:r>
              <a:rPr sz="3200" b="1">
                <a:solidFill>
                  <a:srgbClr val="1E242E"/>
                </a:solidFill>
                <a:latin typeface="Segoe UI"/>
              </a:rPr>
              <a:t>The decision is being made anyway</a:t>
            </a:r>
          </a:p>
        </p:txBody>
      </p:sp>
      <p:sp>
        <p:nvSpPr>
          <p:cNvPr id="4" name="TextBox 3"/>
          <p:cNvSpPr txBox="1"/>
          <p:nvPr/>
        </p:nvSpPr>
        <p:spPr>
          <a:xfrm>
            <a:off x="777240" y="1700784"/>
            <a:ext cx="8778240" cy="640080"/>
          </a:xfrm>
          <a:prstGeom prst="rect">
            <a:avLst/>
          </a:prstGeom>
          <a:noFill/>
        </p:spPr>
        <p:txBody>
          <a:bodyPr wrap="square" anchor="t" lIns="0" rIns="0" tIns="0" bIns="0">
            <a:spAutoFit/>
          </a:bodyPr>
          <a:lstStyle/>
          <a:p>
            <a:pPr algn="l">
              <a:lnSpc>
                <a:spcPct val="125000"/>
              </a:lnSpc>
            </a:pPr>
            <a:r>
              <a:rPr sz="1400" b="0">
                <a:solidFill>
                  <a:srgbClr val="5A6372"/>
                </a:solidFill>
                <a:latin typeface="Segoe UI"/>
              </a:rPr>
              <a:t>Renewal quotes have landed, budgets are being set, and the analysis that should inform the answer usually arrives after it.</a:t>
            </a:r>
          </a:p>
        </p:txBody>
      </p:sp>
      <p:sp>
        <p:nvSpPr>
          <p:cNvPr id="5" name="Rounded Rectangle 4"/>
          <p:cNvSpPr/>
          <p:nvPr/>
        </p:nvSpPr>
        <p:spPr>
          <a:xfrm>
            <a:off x="777240" y="2697480"/>
            <a:ext cx="3362858" cy="2514600"/>
          </a:xfrm>
          <a:prstGeom prst="round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697480"/>
            <a:ext cx="3362858" cy="50292"/>
          </a:xfrm>
          <a:prstGeom prst="rect">
            <a:avLst/>
          </a:prstGeom>
          <a:solidFill>
            <a:srgbClr val="C44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3008376"/>
            <a:ext cx="2777642" cy="1929384"/>
          </a:xfrm>
          <a:prstGeom prst="rect">
            <a:avLst/>
          </a:prstGeom>
          <a:noFill/>
        </p:spPr>
        <p:txBody>
          <a:bodyPr wrap="square" anchor="t" lIns="0" rIns="0" tIns="0" bIns="0">
            <a:spAutoFit/>
          </a:bodyPr>
          <a:lstStyle/>
          <a:p>
            <a:pPr algn="l">
              <a:lnSpc>
                <a:spcPct val="122000"/>
              </a:lnSpc>
              <a:spcAft>
                <a:spcPts val="700"/>
              </a:spcAft>
            </a:pPr>
            <a:r>
              <a:rPr sz="1400" b="1">
                <a:solidFill>
                  <a:srgbClr val="1E242E"/>
                </a:solidFill>
                <a:latin typeface="Segoe UI"/>
              </a:rPr>
              <a:t>Priced from a spreadsheet</a:t>
            </a:r>
          </a:p>
          <a:p>
            <a:pPr algn="l">
              <a:lnSpc>
                <a:spcPct val="122000"/>
              </a:lnSpc>
            </a:pPr>
            <a:r>
              <a:rPr sz="1150" b="0">
                <a:solidFill>
                  <a:srgbClr val="5A6372"/>
                </a:solidFill>
                <a:latin typeface="Segoe UI"/>
              </a:rPr>
              <a:t>Cloud run-rate estimates built on list prices copied months ago, with no reserved-instance or licensing treatment.</a:t>
            </a:r>
          </a:p>
        </p:txBody>
      </p:sp>
      <p:sp>
        <p:nvSpPr>
          <p:cNvPr id="8" name="Rounded Rectangle 7"/>
          <p:cNvSpPr/>
          <p:nvPr/>
        </p:nvSpPr>
        <p:spPr>
          <a:xfrm>
            <a:off x="4414418" y="2697480"/>
            <a:ext cx="3362858" cy="2514600"/>
          </a:xfrm>
          <a:prstGeom prst="round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14418" y="2697480"/>
            <a:ext cx="3362858" cy="50292"/>
          </a:xfrm>
          <a:prstGeom prst="rect">
            <a:avLst/>
          </a:pr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7026" y="3008376"/>
            <a:ext cx="2777642" cy="1929384"/>
          </a:xfrm>
          <a:prstGeom prst="rect">
            <a:avLst/>
          </a:prstGeom>
          <a:noFill/>
        </p:spPr>
        <p:txBody>
          <a:bodyPr wrap="square" anchor="t" lIns="0" rIns="0" tIns="0" bIns="0">
            <a:spAutoFit/>
          </a:bodyPr>
          <a:lstStyle/>
          <a:p>
            <a:pPr algn="l">
              <a:lnSpc>
                <a:spcPct val="122000"/>
              </a:lnSpc>
              <a:spcAft>
                <a:spcPts val="700"/>
              </a:spcAft>
            </a:pPr>
            <a:r>
              <a:rPr sz="1400" b="1">
                <a:solidFill>
                  <a:srgbClr val="1E242E"/>
                </a:solidFill>
                <a:latin typeface="Segoe UI"/>
              </a:rPr>
              <a:t>Sized from a guess</a:t>
            </a:r>
          </a:p>
          <a:p>
            <a:pPr algn="l">
              <a:lnSpc>
                <a:spcPct val="122000"/>
              </a:lnSpc>
            </a:pPr>
            <a:r>
              <a:rPr sz="1150" b="0">
                <a:solidFill>
                  <a:srgbClr val="5A6372"/>
                </a:solidFill>
                <a:latin typeface="Segoe UI"/>
              </a:rPr>
              <a:t>Business cases assume a blanket 30-40% right-sizing saving. The estate rarely gives it back.</a:t>
            </a:r>
          </a:p>
        </p:txBody>
      </p:sp>
      <p:sp>
        <p:nvSpPr>
          <p:cNvPr id="11" name="Rounded Rectangle 10"/>
          <p:cNvSpPr/>
          <p:nvPr/>
        </p:nvSpPr>
        <p:spPr>
          <a:xfrm>
            <a:off x="8051596" y="2697480"/>
            <a:ext cx="3362858" cy="2514600"/>
          </a:xfrm>
          <a:prstGeom prst="round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51596" y="2697480"/>
            <a:ext cx="3362858" cy="50292"/>
          </a:xfrm>
          <a:prstGeom prst="rect">
            <a:avLst/>
          </a:prstGeom>
          <a:solidFill>
            <a:srgbClr val="7A5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4204" y="3008376"/>
            <a:ext cx="2777642" cy="1929384"/>
          </a:xfrm>
          <a:prstGeom prst="rect">
            <a:avLst/>
          </a:prstGeom>
          <a:noFill/>
        </p:spPr>
        <p:txBody>
          <a:bodyPr wrap="square" anchor="t" lIns="0" rIns="0" tIns="0" bIns="0">
            <a:spAutoFit/>
          </a:bodyPr>
          <a:lstStyle/>
          <a:p>
            <a:pPr algn="l">
              <a:lnSpc>
                <a:spcPct val="122000"/>
              </a:lnSpc>
              <a:spcAft>
                <a:spcPts val="700"/>
              </a:spcAft>
            </a:pPr>
            <a:r>
              <a:rPr sz="1400" b="1">
                <a:solidFill>
                  <a:srgbClr val="1E242E"/>
                </a:solidFill>
                <a:latin typeface="Segoe UI"/>
              </a:rPr>
              <a:t>Scoped from a demo</a:t>
            </a:r>
          </a:p>
          <a:p>
            <a:pPr algn="l">
              <a:lnSpc>
                <a:spcPct val="122000"/>
              </a:lnSpc>
            </a:pPr>
            <a:r>
              <a:rPr sz="1150" b="0">
                <a:solidFill>
                  <a:srgbClr val="5A6372"/>
                </a:solidFill>
                <a:latin typeface="Segoe UI"/>
              </a:rPr>
              <a:t>Tooling coverage taken at vendor face value, so the workloads it cannot carry surface during the programme, not before it.</a:t>
            </a:r>
          </a:p>
        </p:txBody>
      </p:sp>
      <p:sp>
        <p:nvSpPr>
          <p:cNvPr id="14" name="TextBox 13"/>
          <p:cNvSpPr txBox="1"/>
          <p:nvPr/>
        </p:nvSpPr>
        <p:spPr>
          <a:xfrm>
            <a:off x="777240" y="6355080"/>
            <a:ext cx="5486400" cy="274320"/>
          </a:xfrm>
          <a:prstGeom prst="rect">
            <a:avLst/>
          </a:prstGeom>
          <a:noFill/>
        </p:spPr>
        <p:txBody>
          <a:bodyPr wrap="square" anchor="t" lIns="0" rIns="0" tIns="0" bIns="0">
            <a:spAutoFit/>
          </a:bodyPr>
          <a:lstStyle/>
          <a:p>
            <a:pPr algn="l">
              <a:lnSpc>
                <a:spcPct val="100000"/>
              </a:lnSpc>
            </a:pPr>
            <a:r>
              <a:rPr sz="900" b="0">
                <a:solidFill>
                  <a:srgbClr val="5A6372"/>
                </a:solidFill>
                <a:latin typeface="Segoe UI"/>
              </a:rPr>
              <a:t>CISCLD Ascend  ·  onpremtocloud.streamlit.app</a:t>
            </a:r>
          </a:p>
        </p:txBody>
      </p:sp>
      <p:sp>
        <p:nvSpPr>
          <p:cNvPr id="15" name="TextBox 14"/>
          <p:cNvSpPr txBox="1"/>
          <p:nvPr/>
        </p:nvSpPr>
        <p:spPr>
          <a:xfrm>
            <a:off x="10500055" y="6355080"/>
            <a:ext cx="914400" cy="274320"/>
          </a:xfrm>
          <a:prstGeom prst="rect">
            <a:avLst/>
          </a:prstGeom>
          <a:noFill/>
        </p:spPr>
        <p:txBody>
          <a:bodyPr wrap="square" anchor="t" lIns="0" rIns="0" tIns="0" bIns="0">
            <a:spAutoFit/>
          </a:bodyPr>
          <a:lstStyle/>
          <a:p>
            <a:pPr algn="r">
              <a:lnSpc>
                <a:spcPct val="100000"/>
              </a:lnSpc>
            </a:pPr>
            <a:r>
              <a:rPr sz="900" b="0">
                <a:solidFill>
                  <a:srgbClr val="5A6372"/>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nchor="t" lIns="0" rIns="0" tIns="0" bIns="0">
            <a:spAutoFit/>
          </a:bodyPr>
          <a:lstStyle/>
          <a:p>
            <a:pPr algn="l">
              <a:lnSpc>
                <a:spcPct val="100000"/>
              </a:lnSpc>
            </a:pPr>
            <a:r>
              <a:rPr sz="1100" b="1">
                <a:solidFill>
                  <a:srgbClr val="3B6FD4"/>
                </a:solidFill>
                <a:latin typeface="Segoe UI"/>
              </a:rPr>
              <a:t>WHAT ASCEND IS</a:t>
            </a:r>
          </a:p>
        </p:txBody>
      </p:sp>
      <p:sp>
        <p:nvSpPr>
          <p:cNvPr id="3" name="TextBox 2"/>
          <p:cNvSpPr txBox="1"/>
          <p:nvPr/>
        </p:nvSpPr>
        <p:spPr>
          <a:xfrm>
            <a:off x="777240" y="932688"/>
            <a:ext cx="10637215" cy="777240"/>
          </a:xfrm>
          <a:prstGeom prst="rect">
            <a:avLst/>
          </a:prstGeom>
          <a:noFill/>
        </p:spPr>
        <p:txBody>
          <a:bodyPr wrap="square" anchor="t" lIns="0" rIns="0" tIns="0" bIns="0">
            <a:spAutoFit/>
          </a:bodyPr>
          <a:lstStyle/>
          <a:p>
            <a:pPr algn="l">
              <a:lnSpc>
                <a:spcPct val="100000"/>
              </a:lnSpc>
            </a:pPr>
            <a:r>
              <a:rPr sz="3200" b="1">
                <a:solidFill>
                  <a:srgbClr val="1E242E"/>
                </a:solidFill>
                <a:latin typeface="Segoe UI"/>
              </a:rPr>
              <a:t>One model, priced live, that answers the whole question</a:t>
            </a:r>
          </a:p>
        </p:txBody>
      </p:sp>
      <p:sp>
        <p:nvSpPr>
          <p:cNvPr id="4" name="TextBox 3"/>
          <p:cNvSpPr txBox="1"/>
          <p:nvPr/>
        </p:nvSpPr>
        <p:spPr>
          <a:xfrm>
            <a:off x="777240" y="1700784"/>
            <a:ext cx="8778240" cy="640080"/>
          </a:xfrm>
          <a:prstGeom prst="rect">
            <a:avLst/>
          </a:prstGeom>
          <a:noFill/>
        </p:spPr>
        <p:txBody>
          <a:bodyPr wrap="square" anchor="t" lIns="0" rIns="0" tIns="0" bIns="0">
            <a:spAutoFit/>
          </a:bodyPr>
          <a:lstStyle/>
          <a:p>
            <a:pPr algn="l">
              <a:lnSpc>
                <a:spcPct val="125000"/>
              </a:lnSpc>
            </a:pPr>
            <a:r>
              <a:rPr sz="1400" b="0">
                <a:solidFill>
                  <a:srgbClr val="5A6372"/>
                </a:solidFill>
                <a:latin typeface="Segoe UI"/>
              </a:rPr>
              <a:t>Point it at an estate and it produces the run rate, the programme cost, the timeline, the risk and the business case — from a single set of assumptions you can see and change.</a:t>
            </a:r>
          </a:p>
        </p:txBody>
      </p:sp>
      <p:sp>
        <p:nvSpPr>
          <p:cNvPr id="5" name="Rectangle 4"/>
          <p:cNvSpPr/>
          <p:nvPr/>
        </p:nvSpPr>
        <p:spPr>
          <a:xfrm>
            <a:off x="777240" y="2962656"/>
            <a:ext cx="45720" cy="201168"/>
          </a:xfrm>
          <a:prstGeom prst="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 y="2880360"/>
            <a:ext cx="10417759" cy="841248"/>
          </a:xfrm>
          <a:prstGeom prst="rect">
            <a:avLst/>
          </a:prstGeom>
          <a:noFill/>
        </p:spPr>
        <p:txBody>
          <a:bodyPr wrap="square" anchor="t" lIns="0" rIns="0" tIns="0" bIns="0">
            <a:spAutoFit/>
          </a:bodyPr>
          <a:lstStyle/>
          <a:p>
            <a:pPr algn="l">
              <a:lnSpc>
                <a:spcPct val="122000"/>
              </a:lnSpc>
              <a:spcAft>
                <a:spcPts val="500"/>
              </a:spcAft>
            </a:pPr>
            <a:r>
              <a:rPr sz="1350" b="1">
                <a:solidFill>
                  <a:srgbClr val="1E242E"/>
                </a:solidFill>
                <a:latin typeface="Segoe UI"/>
              </a:rPr>
              <a:t>Every Azure figure is priced against live Microsoft retail rates</a:t>
            </a:r>
          </a:p>
          <a:p>
            <a:pPr algn="l">
              <a:lnSpc>
                <a:spcPct val="122000"/>
              </a:lnSpc>
            </a:pPr>
            <a:r>
              <a:rPr sz="1150" b="0">
                <a:solidFill>
                  <a:srgbClr val="5A6372"/>
                </a:solidFill>
                <a:latin typeface="Segoe UI"/>
              </a:rPr>
              <a:t>Fetched at run time from the Azure Retail Prices API for your region and currency, including reservations and savings plans. AWS comes from its own public rate feed.</a:t>
            </a:r>
          </a:p>
        </p:txBody>
      </p:sp>
      <p:sp>
        <p:nvSpPr>
          <p:cNvPr id="7" name="Rectangle 6"/>
          <p:cNvSpPr/>
          <p:nvPr/>
        </p:nvSpPr>
        <p:spPr>
          <a:xfrm>
            <a:off x="777240" y="3803904"/>
            <a:ext cx="45720" cy="201168"/>
          </a:xfrm>
          <a:prstGeom prst="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6" y="3721608"/>
            <a:ext cx="10417759" cy="841248"/>
          </a:xfrm>
          <a:prstGeom prst="rect">
            <a:avLst/>
          </a:prstGeom>
          <a:noFill/>
        </p:spPr>
        <p:txBody>
          <a:bodyPr wrap="square" anchor="t" lIns="0" rIns="0" tIns="0" bIns="0">
            <a:spAutoFit/>
          </a:bodyPr>
          <a:lstStyle/>
          <a:p>
            <a:pPr algn="l">
              <a:lnSpc>
                <a:spcPct val="122000"/>
              </a:lnSpc>
              <a:spcAft>
                <a:spcPts val="500"/>
              </a:spcAft>
            </a:pPr>
            <a:r>
              <a:rPr sz="1350" b="1">
                <a:solidFill>
                  <a:srgbClr val="1E242E"/>
                </a:solidFill>
                <a:latin typeface="Segoe UI"/>
              </a:rPr>
              <a:t>12 engines behind 16 screens</a:t>
            </a:r>
          </a:p>
          <a:p>
            <a:pPr algn="l">
              <a:lnSpc>
                <a:spcPct val="122000"/>
              </a:lnSpc>
            </a:pPr>
            <a:r>
              <a:rPr sz="1150" b="0">
                <a:solidFill>
                  <a:srgbClr val="5A6372"/>
                </a:solidFill>
                <a:latin typeface="Segoe UI"/>
              </a:rPr>
              <a:t>Right-sizing, readiness, 7R disposition, cost, complexity and effort, wave planning, Monte Carlo risk, TCO and NPV — one pipeline, so a change anywhere moves everything.</a:t>
            </a:r>
          </a:p>
        </p:txBody>
      </p:sp>
      <p:sp>
        <p:nvSpPr>
          <p:cNvPr id="9" name="Rectangle 8"/>
          <p:cNvSpPr/>
          <p:nvPr/>
        </p:nvSpPr>
        <p:spPr>
          <a:xfrm>
            <a:off x="777240" y="4645152"/>
            <a:ext cx="45720" cy="201168"/>
          </a:xfrm>
          <a:prstGeom prst="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4562856"/>
            <a:ext cx="10417759" cy="841248"/>
          </a:xfrm>
          <a:prstGeom prst="rect">
            <a:avLst/>
          </a:prstGeom>
          <a:noFill/>
        </p:spPr>
        <p:txBody>
          <a:bodyPr wrap="square" anchor="t" lIns="0" rIns="0" tIns="0" bIns="0">
            <a:spAutoFit/>
          </a:bodyPr>
          <a:lstStyle/>
          <a:p>
            <a:pPr algn="l">
              <a:lnSpc>
                <a:spcPct val="122000"/>
              </a:lnSpc>
              <a:spcAft>
                <a:spcPts val="500"/>
              </a:spcAft>
            </a:pPr>
            <a:r>
              <a:rPr sz="1350" b="1">
                <a:solidFill>
                  <a:srgbClr val="1E242E"/>
                </a:solidFill>
                <a:latin typeface="Segoe UI"/>
              </a:rPr>
              <a:t>Organised as a seven-act client narrative, not a menu</a:t>
            </a:r>
          </a:p>
          <a:p>
            <a:pPr algn="l">
              <a:lnSpc>
                <a:spcPct val="122000"/>
              </a:lnSpc>
            </a:pPr>
            <a:r>
              <a:rPr sz="1150" b="0">
                <a:solidFill>
                  <a:srgbClr val="5A6372"/>
                </a:solidFill>
                <a:latin typeface="Segoe UI"/>
              </a:rPr>
              <a:t>Situation, Discover, Assess, Decide, Plan, Execute, Communicate. Every screen states where it sits in the conversation.</a:t>
            </a:r>
          </a:p>
        </p:txBody>
      </p:sp>
      <p:sp>
        <p:nvSpPr>
          <p:cNvPr id="11" name="Rectangle 10"/>
          <p:cNvSpPr/>
          <p:nvPr/>
        </p:nvSpPr>
        <p:spPr>
          <a:xfrm>
            <a:off x="777240" y="5486400"/>
            <a:ext cx="45720" cy="201168"/>
          </a:xfrm>
          <a:prstGeom prst="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6" y="5404104"/>
            <a:ext cx="10417759" cy="841248"/>
          </a:xfrm>
          <a:prstGeom prst="rect">
            <a:avLst/>
          </a:prstGeom>
          <a:noFill/>
        </p:spPr>
        <p:txBody>
          <a:bodyPr wrap="square" anchor="t" lIns="0" rIns="0" tIns="0" bIns="0">
            <a:spAutoFit/>
          </a:bodyPr>
          <a:lstStyle/>
          <a:p>
            <a:pPr algn="l">
              <a:lnSpc>
                <a:spcPct val="122000"/>
              </a:lnSpc>
              <a:spcAft>
                <a:spcPts val="500"/>
              </a:spcAft>
            </a:pPr>
            <a:r>
              <a:rPr sz="1350" b="1">
                <a:solidFill>
                  <a:srgbClr val="1E242E"/>
                </a:solidFill>
                <a:latin typeface="Segoe UI"/>
              </a:rPr>
              <a:t>Built to be presented</a:t>
            </a:r>
          </a:p>
          <a:p>
            <a:pPr algn="l">
              <a:lnSpc>
                <a:spcPct val="122000"/>
              </a:lnSpc>
            </a:pPr>
            <a:r>
              <a:rPr sz="1150" b="0">
                <a:solidFill>
                  <a:srgbClr val="5A6372"/>
                </a:solidFill>
                <a:latin typeface="Segoe UI"/>
              </a:rPr>
              <a:t>A presentation mode hides every control, and each screen carries the one line worth saying out loud.</a:t>
            </a:r>
          </a:p>
        </p:txBody>
      </p:sp>
      <p:sp>
        <p:nvSpPr>
          <p:cNvPr id="13" name="TextBox 12"/>
          <p:cNvSpPr txBox="1"/>
          <p:nvPr/>
        </p:nvSpPr>
        <p:spPr>
          <a:xfrm>
            <a:off x="777240" y="6355080"/>
            <a:ext cx="5486400" cy="274320"/>
          </a:xfrm>
          <a:prstGeom prst="rect">
            <a:avLst/>
          </a:prstGeom>
          <a:noFill/>
        </p:spPr>
        <p:txBody>
          <a:bodyPr wrap="square" anchor="t" lIns="0" rIns="0" tIns="0" bIns="0">
            <a:spAutoFit/>
          </a:bodyPr>
          <a:lstStyle/>
          <a:p>
            <a:pPr algn="l">
              <a:lnSpc>
                <a:spcPct val="100000"/>
              </a:lnSpc>
            </a:pPr>
            <a:r>
              <a:rPr sz="900" b="0">
                <a:solidFill>
                  <a:srgbClr val="5A6372"/>
                </a:solidFill>
                <a:latin typeface="Segoe UI"/>
              </a:rPr>
              <a:t>CISCLD Ascend  ·  onpremtocloud.streamlit.app</a:t>
            </a:r>
          </a:p>
        </p:txBody>
      </p:sp>
      <p:sp>
        <p:nvSpPr>
          <p:cNvPr id="14" name="TextBox 13"/>
          <p:cNvSpPr txBox="1"/>
          <p:nvPr/>
        </p:nvSpPr>
        <p:spPr>
          <a:xfrm>
            <a:off x="10500055" y="6355080"/>
            <a:ext cx="914400" cy="274320"/>
          </a:xfrm>
          <a:prstGeom prst="rect">
            <a:avLst/>
          </a:prstGeom>
          <a:noFill/>
        </p:spPr>
        <p:txBody>
          <a:bodyPr wrap="square" anchor="t" lIns="0" rIns="0" tIns="0" bIns="0">
            <a:spAutoFit/>
          </a:bodyPr>
          <a:lstStyle/>
          <a:p>
            <a:pPr algn="r">
              <a:lnSpc>
                <a:spcPct val="100000"/>
              </a:lnSpc>
            </a:pPr>
            <a:r>
              <a:rPr sz="900" b="0">
                <a:solidFill>
                  <a:srgbClr val="5A6372"/>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C17"/>
        </a:solidFill>
        <a:effectLst/>
      </p:bgPr>
    </p:bg>
    <p:spTree>
      <p:nvGrpSpPr>
        <p:cNvPr id="1" name=""/>
        <p:cNvGrpSpPr/>
        <p:nvPr/>
      </p:nvGrpSpPr>
      <p:grpSpPr/>
      <p:sp>
        <p:nvSpPr>
          <p:cNvPr id="2" name="Rectangle 1"/>
          <p:cNvSpPr/>
          <p:nvPr/>
        </p:nvSpPr>
        <p:spPr>
          <a:xfrm>
            <a:off x="0" y="0"/>
            <a:ext cx="5120511" cy="82296"/>
          </a:xfrm>
          <a:prstGeom prst="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120511" y="0"/>
            <a:ext cx="3413674" cy="82296"/>
          </a:xfrm>
          <a:prstGeom prst="rect">
            <a:avLst/>
          </a:prstGeom>
          <a:solidFill>
            <a:srgbClr val="7A5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468880"/>
            <a:ext cx="9144000" cy="365760"/>
          </a:xfrm>
          <a:prstGeom prst="rect">
            <a:avLst/>
          </a:prstGeom>
          <a:noFill/>
        </p:spPr>
        <p:txBody>
          <a:bodyPr wrap="square" anchor="t" lIns="0" rIns="0" tIns="0" bIns="0">
            <a:spAutoFit/>
          </a:bodyPr>
          <a:lstStyle/>
          <a:p>
            <a:pPr algn="l">
              <a:lnSpc>
                <a:spcPct val="100000"/>
              </a:lnSpc>
            </a:pPr>
            <a:r>
              <a:rPr sz="1300" b="1">
                <a:solidFill>
                  <a:srgbClr val="3B6FD4"/>
                </a:solidFill>
                <a:latin typeface="Consolas"/>
              </a:rPr>
              <a:t>THE EVIDENCE</a:t>
            </a:r>
          </a:p>
        </p:txBody>
      </p:sp>
      <p:sp>
        <p:nvSpPr>
          <p:cNvPr id="5" name="TextBox 4"/>
          <p:cNvSpPr txBox="1"/>
          <p:nvPr/>
        </p:nvSpPr>
        <p:spPr>
          <a:xfrm>
            <a:off x="777240" y="2880360"/>
            <a:ext cx="10058400" cy="914400"/>
          </a:xfrm>
          <a:prstGeom prst="rect">
            <a:avLst/>
          </a:prstGeom>
          <a:noFill/>
        </p:spPr>
        <p:txBody>
          <a:bodyPr wrap="square" anchor="t" lIns="0" rIns="0" tIns="0" bIns="0">
            <a:spAutoFit/>
          </a:bodyPr>
          <a:lstStyle/>
          <a:p>
            <a:pPr algn="l">
              <a:lnSpc>
                <a:spcPct val="100000"/>
              </a:lnSpc>
            </a:pPr>
            <a:r>
              <a:rPr sz="4400" b="1">
                <a:solidFill>
                  <a:srgbClr val="E8EDF7"/>
                </a:solidFill>
                <a:latin typeface="Segoe UI"/>
              </a:rPr>
              <a:t>It will tell you when the answer is no</a:t>
            </a:r>
          </a:p>
        </p:txBody>
      </p:sp>
      <p:sp>
        <p:nvSpPr>
          <p:cNvPr id="6" name="TextBox 5"/>
          <p:cNvSpPr txBox="1"/>
          <p:nvPr/>
        </p:nvSpPr>
        <p:spPr>
          <a:xfrm>
            <a:off x="777240" y="3977639"/>
            <a:ext cx="8229600" cy="731520"/>
          </a:xfrm>
          <a:prstGeom prst="rect">
            <a:avLst/>
          </a:prstGeom>
          <a:noFill/>
        </p:spPr>
        <p:txBody>
          <a:bodyPr wrap="square" anchor="t" lIns="0" rIns="0" tIns="0" bIns="0">
            <a:spAutoFit/>
          </a:bodyPr>
          <a:lstStyle/>
          <a:p>
            <a:pPr algn="l">
              <a:lnSpc>
                <a:spcPct val="130000"/>
              </a:lnSpc>
            </a:pPr>
            <a:r>
              <a:rPr sz="1500" b="0">
                <a:solidFill>
                  <a:srgbClr val="9FACC4"/>
                </a:solidFill>
                <a:latin typeface="Segoe UI"/>
              </a:rPr>
              <a:t>A tool that only ever justifies the migration is a sales deck with arithmetic. This one is built to survive scrutiny.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nchor="t" lIns="0" rIns="0" tIns="0" bIns="0">
            <a:spAutoFit/>
          </a:bodyPr>
          <a:lstStyle/>
          <a:p>
            <a:pPr algn="l">
              <a:lnSpc>
                <a:spcPct val="100000"/>
              </a:lnSpc>
            </a:pPr>
            <a:r>
              <a:rPr sz="1100" b="1">
                <a:solidFill>
                  <a:srgbClr val="3B6FD4"/>
                </a:solidFill>
                <a:latin typeface="Segoe UI"/>
              </a:rPr>
              <a:t>WHAT THE MODEL SAYS THAT A VENDOR WILL NOT</a:t>
            </a:r>
          </a:p>
        </p:txBody>
      </p:sp>
      <p:sp>
        <p:nvSpPr>
          <p:cNvPr id="3" name="TextBox 2"/>
          <p:cNvSpPr txBox="1"/>
          <p:nvPr/>
        </p:nvSpPr>
        <p:spPr>
          <a:xfrm>
            <a:off x="777240" y="932688"/>
            <a:ext cx="10637215" cy="777240"/>
          </a:xfrm>
          <a:prstGeom prst="rect">
            <a:avLst/>
          </a:prstGeom>
          <a:noFill/>
        </p:spPr>
        <p:txBody>
          <a:bodyPr wrap="square" anchor="t" lIns="0" rIns="0" tIns="0" bIns="0">
            <a:spAutoFit/>
          </a:bodyPr>
          <a:lstStyle/>
          <a:p>
            <a:pPr algn="l">
              <a:lnSpc>
                <a:spcPct val="100000"/>
              </a:lnSpc>
            </a:pPr>
            <a:r>
              <a:rPr sz="3200" b="1">
                <a:solidFill>
                  <a:srgbClr val="1E242E"/>
                </a:solidFill>
                <a:latin typeface="Segoe UI"/>
              </a:rPr>
              <a:t>Four numbers that change the conversation</a:t>
            </a:r>
          </a:p>
        </p:txBody>
      </p:sp>
      <p:sp>
        <p:nvSpPr>
          <p:cNvPr id="4" name="TextBox 3"/>
          <p:cNvSpPr txBox="1"/>
          <p:nvPr/>
        </p:nvSpPr>
        <p:spPr>
          <a:xfrm>
            <a:off x="777240" y="1700784"/>
            <a:ext cx="8778240" cy="640080"/>
          </a:xfrm>
          <a:prstGeom prst="rect">
            <a:avLst/>
          </a:prstGeom>
          <a:noFill/>
        </p:spPr>
        <p:txBody>
          <a:bodyPr wrap="square" anchor="t" lIns="0" rIns="0" tIns="0" bIns="0">
            <a:spAutoFit/>
          </a:bodyPr>
          <a:lstStyle/>
          <a:p>
            <a:pPr algn="l">
              <a:lnSpc>
                <a:spcPct val="125000"/>
              </a:lnSpc>
            </a:pPr>
            <a:r>
              <a:rPr sz="1400" b="0">
                <a:solidFill>
                  <a:srgbClr val="5A6372"/>
                </a:solidFill>
                <a:latin typeface="Segoe UI"/>
              </a:rPr>
              <a:t>All four are outputs of this model against a 547-VM reference estate. Two of them argue against the easy answer.</a:t>
            </a:r>
          </a:p>
        </p:txBody>
      </p:sp>
      <p:sp>
        <p:nvSpPr>
          <p:cNvPr id="5" name="Rounded Rectangle 4"/>
          <p:cNvSpPr/>
          <p:nvPr/>
        </p:nvSpPr>
        <p:spPr>
          <a:xfrm>
            <a:off x="777240" y="2651760"/>
            <a:ext cx="2453563" cy="2971800"/>
          </a:xfrm>
          <a:prstGeom prst="round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651760"/>
            <a:ext cx="2453563" cy="50292"/>
          </a:xfrm>
          <a:prstGeom prst="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2962656"/>
            <a:ext cx="1996363" cy="566928"/>
          </a:xfrm>
          <a:prstGeom prst="rect">
            <a:avLst/>
          </a:prstGeom>
          <a:noFill/>
        </p:spPr>
        <p:txBody>
          <a:bodyPr wrap="square" anchor="t" lIns="0" rIns="0" tIns="0" bIns="0">
            <a:spAutoFit/>
          </a:bodyPr>
          <a:lstStyle/>
          <a:p>
            <a:pPr algn="l">
              <a:lnSpc>
                <a:spcPct val="100000"/>
              </a:lnSpc>
            </a:pPr>
            <a:r>
              <a:rPr sz="3000" b="1">
                <a:solidFill>
                  <a:srgbClr val="3B6FD4"/>
                </a:solidFill>
                <a:latin typeface="Consolas"/>
              </a:rPr>
              <a:t>$0.0460</a:t>
            </a:r>
          </a:p>
        </p:txBody>
      </p:sp>
      <p:sp>
        <p:nvSpPr>
          <p:cNvPr id="8" name="TextBox 7"/>
          <p:cNvSpPr txBox="1"/>
          <p:nvPr/>
        </p:nvSpPr>
        <p:spPr>
          <a:xfrm>
            <a:off x="1069848" y="3584448"/>
            <a:ext cx="1868347" cy="1764792"/>
          </a:xfrm>
          <a:prstGeom prst="rect">
            <a:avLst/>
          </a:prstGeom>
          <a:noFill/>
        </p:spPr>
        <p:txBody>
          <a:bodyPr wrap="square" anchor="t" lIns="0" rIns="0" tIns="0" bIns="0">
            <a:spAutoFit/>
          </a:bodyPr>
          <a:lstStyle/>
          <a:p>
            <a:pPr algn="l">
              <a:lnSpc>
                <a:spcPct val="122000"/>
              </a:lnSpc>
              <a:spcAft>
                <a:spcPts val="700"/>
              </a:spcAft>
            </a:pPr>
            <a:r>
              <a:rPr sz="1400" b="1">
                <a:solidFill>
                  <a:srgbClr val="1E242E"/>
                </a:solidFill>
                <a:latin typeface="Segoe UI"/>
              </a:rPr>
              <a:t>Azure and AWS charge the same</a:t>
            </a:r>
          </a:p>
          <a:p>
            <a:pPr algn="l">
              <a:lnSpc>
                <a:spcPct val="122000"/>
              </a:lnSpc>
            </a:pPr>
            <a:r>
              <a:rPr sz="1150" b="0">
                <a:solidFill>
                  <a:srgbClr val="5A6372"/>
                </a:solidFill>
                <a:latin typeface="Segoe UI"/>
              </a:rPr>
              <a:t>Per vCPU hour for licence-included Windows, derived independently from both live APIs. The Azure case is Hybrid Benefit and free ESU — not cheaper cores.</a:t>
            </a:r>
          </a:p>
        </p:txBody>
      </p:sp>
      <p:sp>
        <p:nvSpPr>
          <p:cNvPr id="9" name="Rounded Rectangle 8"/>
          <p:cNvSpPr/>
          <p:nvPr/>
        </p:nvSpPr>
        <p:spPr>
          <a:xfrm>
            <a:off x="3505123" y="2651760"/>
            <a:ext cx="2453563" cy="2971800"/>
          </a:xfrm>
          <a:prstGeom prst="round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05123" y="2651760"/>
            <a:ext cx="2453563" cy="50292"/>
          </a:xfrm>
          <a:prstGeom prst="rect">
            <a:avLst/>
          </a:pr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97731" y="2962656"/>
            <a:ext cx="1996363" cy="566928"/>
          </a:xfrm>
          <a:prstGeom prst="rect">
            <a:avLst/>
          </a:prstGeom>
          <a:noFill/>
        </p:spPr>
        <p:txBody>
          <a:bodyPr wrap="square" anchor="t" lIns="0" rIns="0" tIns="0" bIns="0">
            <a:spAutoFit/>
          </a:bodyPr>
          <a:lstStyle/>
          <a:p>
            <a:pPr algn="l">
              <a:lnSpc>
                <a:spcPct val="100000"/>
              </a:lnSpc>
            </a:pPr>
            <a:r>
              <a:rPr sz="3000" b="1">
                <a:solidFill>
                  <a:srgbClr val="E08A2E"/>
                </a:solidFill>
                <a:latin typeface="Consolas"/>
              </a:rPr>
              <a:t>46%</a:t>
            </a:r>
          </a:p>
        </p:txBody>
      </p:sp>
      <p:sp>
        <p:nvSpPr>
          <p:cNvPr id="12" name="TextBox 11"/>
          <p:cNvSpPr txBox="1"/>
          <p:nvPr/>
        </p:nvSpPr>
        <p:spPr>
          <a:xfrm>
            <a:off x="3797731" y="3584448"/>
            <a:ext cx="1868347" cy="1764792"/>
          </a:xfrm>
          <a:prstGeom prst="rect">
            <a:avLst/>
          </a:prstGeom>
          <a:noFill/>
        </p:spPr>
        <p:txBody>
          <a:bodyPr wrap="square" anchor="t" lIns="0" rIns="0" tIns="0" bIns="0">
            <a:spAutoFit/>
          </a:bodyPr>
          <a:lstStyle/>
          <a:p>
            <a:pPr algn="l">
              <a:lnSpc>
                <a:spcPct val="122000"/>
              </a:lnSpc>
              <a:spcAft>
                <a:spcPts val="700"/>
              </a:spcAft>
            </a:pPr>
            <a:r>
              <a:rPr sz="1400" b="1">
                <a:solidFill>
                  <a:srgbClr val="1E242E"/>
                </a:solidFill>
                <a:latin typeface="Segoe UI"/>
              </a:rPr>
              <a:t>is all Azure Migrate carries</a:t>
            </a:r>
          </a:p>
          <a:p>
            <a:pPr algn="l">
              <a:lnSpc>
                <a:spcPct val="122000"/>
              </a:lnSpc>
            </a:pPr>
            <a:r>
              <a:rPr sz="1150" b="0">
                <a:solidFill>
                  <a:srgbClr val="5A6372"/>
                </a:solidFill>
                <a:latin typeface="Segoe UI"/>
              </a:rPr>
              <a:t>End to end, and it moves no database of any kind. The rest needs tooling you have to choose, buy and staff.</a:t>
            </a:r>
          </a:p>
        </p:txBody>
      </p:sp>
      <p:sp>
        <p:nvSpPr>
          <p:cNvPr id="13" name="Rounded Rectangle 12"/>
          <p:cNvSpPr/>
          <p:nvPr/>
        </p:nvSpPr>
        <p:spPr>
          <a:xfrm>
            <a:off x="6233007" y="2651760"/>
            <a:ext cx="2453563" cy="2971800"/>
          </a:xfrm>
          <a:prstGeom prst="round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33007" y="2651760"/>
            <a:ext cx="2453563" cy="50292"/>
          </a:xfrm>
          <a:prstGeom prst="rect">
            <a:avLst/>
          </a:prstGeom>
          <a:solidFill>
            <a:srgbClr val="C44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25615" y="2962656"/>
            <a:ext cx="1996363" cy="566928"/>
          </a:xfrm>
          <a:prstGeom prst="rect">
            <a:avLst/>
          </a:prstGeom>
          <a:noFill/>
        </p:spPr>
        <p:txBody>
          <a:bodyPr wrap="square" anchor="t" lIns="0" rIns="0" tIns="0" bIns="0">
            <a:spAutoFit/>
          </a:bodyPr>
          <a:lstStyle/>
          <a:p>
            <a:pPr algn="l">
              <a:lnSpc>
                <a:spcPct val="100000"/>
              </a:lnSpc>
            </a:pPr>
            <a:r>
              <a:rPr sz="3000" b="1">
                <a:solidFill>
                  <a:srgbClr val="C4485E"/>
                </a:solidFill>
                <a:latin typeface="Consolas"/>
              </a:rPr>
              <a:t>16%</a:t>
            </a:r>
          </a:p>
        </p:txBody>
      </p:sp>
      <p:sp>
        <p:nvSpPr>
          <p:cNvPr id="16" name="TextBox 15"/>
          <p:cNvSpPr txBox="1"/>
          <p:nvPr/>
        </p:nvSpPr>
        <p:spPr>
          <a:xfrm>
            <a:off x="6525615" y="3584448"/>
            <a:ext cx="1868347" cy="1764792"/>
          </a:xfrm>
          <a:prstGeom prst="rect">
            <a:avLst/>
          </a:prstGeom>
          <a:noFill/>
        </p:spPr>
        <p:txBody>
          <a:bodyPr wrap="square" anchor="t" lIns="0" rIns="0" tIns="0" bIns="0">
            <a:spAutoFit/>
          </a:bodyPr>
          <a:lstStyle/>
          <a:p>
            <a:pPr algn="l">
              <a:lnSpc>
                <a:spcPct val="122000"/>
              </a:lnSpc>
              <a:spcAft>
                <a:spcPts val="700"/>
              </a:spcAft>
            </a:pPr>
            <a:r>
              <a:rPr sz="1400" b="1">
                <a:solidFill>
                  <a:srgbClr val="1E242E"/>
                </a:solidFill>
                <a:latin typeface="Segoe UI"/>
              </a:rPr>
              <a:t>is what right-sizing returns</a:t>
            </a:r>
          </a:p>
          <a:p>
            <a:pPr algn="l">
              <a:lnSpc>
                <a:spcPct val="122000"/>
              </a:lnSpc>
            </a:pPr>
            <a:r>
              <a:rPr sz="1150" b="0">
                <a:solidFill>
                  <a:srgbClr val="5A6372"/>
                </a:solidFill>
                <a:latin typeface="Segoe UI"/>
              </a:rPr>
              <a:t>Despite 15% mean CPU. A 1.3x comfort factor and discrete SKU sizes eat the rest, so cases built on 30-40% do not survive the price list.</a:t>
            </a:r>
          </a:p>
        </p:txBody>
      </p:sp>
      <p:sp>
        <p:nvSpPr>
          <p:cNvPr id="17" name="Rounded Rectangle 16"/>
          <p:cNvSpPr/>
          <p:nvPr/>
        </p:nvSpPr>
        <p:spPr>
          <a:xfrm>
            <a:off x="8960891" y="2651760"/>
            <a:ext cx="2453563" cy="2971800"/>
          </a:xfrm>
          <a:prstGeom prst="round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60891" y="2651760"/>
            <a:ext cx="2453563" cy="50292"/>
          </a:xfrm>
          <a:prstGeom prst="rect">
            <a:avLst/>
          </a:prstGeom>
          <a:solidFill>
            <a:srgbClr val="7A5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53499" y="2962656"/>
            <a:ext cx="1996363" cy="566928"/>
          </a:xfrm>
          <a:prstGeom prst="rect">
            <a:avLst/>
          </a:prstGeom>
          <a:noFill/>
        </p:spPr>
        <p:txBody>
          <a:bodyPr wrap="square" anchor="t" lIns="0" rIns="0" tIns="0" bIns="0">
            <a:spAutoFit/>
          </a:bodyPr>
          <a:lstStyle/>
          <a:p>
            <a:pPr algn="l">
              <a:lnSpc>
                <a:spcPct val="100000"/>
              </a:lnSpc>
            </a:pPr>
            <a:r>
              <a:rPr sz="3000" b="1">
                <a:solidFill>
                  <a:srgbClr val="7A5BC4"/>
                </a:solidFill>
                <a:latin typeface="Consolas"/>
              </a:rPr>
              <a:t>31</a:t>
            </a:r>
          </a:p>
        </p:txBody>
      </p:sp>
      <p:sp>
        <p:nvSpPr>
          <p:cNvPr id="20" name="TextBox 19"/>
          <p:cNvSpPr txBox="1"/>
          <p:nvPr/>
        </p:nvSpPr>
        <p:spPr>
          <a:xfrm>
            <a:off x="9253499" y="3584448"/>
            <a:ext cx="1868347" cy="1764792"/>
          </a:xfrm>
          <a:prstGeom prst="rect">
            <a:avLst/>
          </a:prstGeom>
          <a:noFill/>
        </p:spPr>
        <p:txBody>
          <a:bodyPr wrap="square" anchor="t" lIns="0" rIns="0" tIns="0" bIns="0">
            <a:spAutoFit/>
          </a:bodyPr>
          <a:lstStyle/>
          <a:p>
            <a:pPr algn="l">
              <a:lnSpc>
                <a:spcPct val="122000"/>
              </a:lnSpc>
              <a:spcAft>
                <a:spcPts val="700"/>
              </a:spcAft>
            </a:pPr>
            <a:r>
              <a:rPr sz="1400" b="1">
                <a:solidFill>
                  <a:srgbClr val="1E242E"/>
                </a:solidFill>
                <a:latin typeface="Segoe UI"/>
              </a:rPr>
              <a:t>hosts if you choose AVS</a:t>
            </a:r>
          </a:p>
          <a:p>
            <a:pPr algn="l">
              <a:lnSpc>
                <a:spcPct val="122000"/>
              </a:lnSpc>
            </a:pPr>
            <a:r>
              <a:rPr sz="1150" b="0">
                <a:solidFill>
                  <a:srgbClr val="5A6372"/>
                </a:solidFill>
                <a:latin typeface="Segoe UI"/>
              </a:rPr>
              <a:t>Sized by memory, not VM count, landing about 5% below staying on VMware. The fastest exit is rarely the cheapest home.</a:t>
            </a:r>
          </a:p>
        </p:txBody>
      </p:sp>
      <p:sp>
        <p:nvSpPr>
          <p:cNvPr id="21" name="TextBox 20"/>
          <p:cNvSpPr txBox="1"/>
          <p:nvPr/>
        </p:nvSpPr>
        <p:spPr>
          <a:xfrm>
            <a:off x="777240" y="6355080"/>
            <a:ext cx="5486400" cy="274320"/>
          </a:xfrm>
          <a:prstGeom prst="rect">
            <a:avLst/>
          </a:prstGeom>
          <a:noFill/>
        </p:spPr>
        <p:txBody>
          <a:bodyPr wrap="square" anchor="t" lIns="0" rIns="0" tIns="0" bIns="0">
            <a:spAutoFit/>
          </a:bodyPr>
          <a:lstStyle/>
          <a:p>
            <a:pPr algn="l">
              <a:lnSpc>
                <a:spcPct val="100000"/>
              </a:lnSpc>
            </a:pPr>
            <a:r>
              <a:rPr sz="900" b="0">
                <a:solidFill>
                  <a:srgbClr val="5A6372"/>
                </a:solidFill>
                <a:latin typeface="Segoe UI"/>
              </a:rPr>
              <a:t>CISCLD Ascend  ·  onpremtocloud.streamlit.app</a:t>
            </a:r>
          </a:p>
        </p:txBody>
      </p:sp>
      <p:sp>
        <p:nvSpPr>
          <p:cNvPr id="22" name="TextBox 21"/>
          <p:cNvSpPr txBox="1"/>
          <p:nvPr/>
        </p:nvSpPr>
        <p:spPr>
          <a:xfrm>
            <a:off x="10500055" y="6355080"/>
            <a:ext cx="914400" cy="274320"/>
          </a:xfrm>
          <a:prstGeom prst="rect">
            <a:avLst/>
          </a:prstGeom>
          <a:noFill/>
        </p:spPr>
        <p:txBody>
          <a:bodyPr wrap="square" anchor="t" lIns="0" rIns="0" tIns="0" bIns="0">
            <a:spAutoFit/>
          </a:bodyPr>
          <a:lstStyle/>
          <a:p>
            <a:pPr algn="r">
              <a:lnSpc>
                <a:spcPct val="100000"/>
              </a:lnSpc>
            </a:pPr>
            <a:r>
              <a:rPr sz="900" b="0">
                <a:solidFill>
                  <a:srgbClr val="5A6372"/>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nchor="t" lIns="0" rIns="0" tIns="0" bIns="0">
            <a:spAutoFit/>
          </a:bodyPr>
          <a:lstStyle/>
          <a:p>
            <a:pPr algn="l">
              <a:lnSpc>
                <a:spcPct val="100000"/>
              </a:lnSpc>
            </a:pPr>
            <a:r>
              <a:rPr sz="1100" b="1">
                <a:solidFill>
                  <a:srgbClr val="3B6FD4"/>
                </a:solidFill>
                <a:latin typeface="Segoe UI"/>
              </a:rPr>
              <a:t>WHY THE NUMBERS CAN BE DEFENDED</a:t>
            </a:r>
          </a:p>
        </p:txBody>
      </p:sp>
      <p:sp>
        <p:nvSpPr>
          <p:cNvPr id="3" name="TextBox 2"/>
          <p:cNvSpPr txBox="1"/>
          <p:nvPr/>
        </p:nvSpPr>
        <p:spPr>
          <a:xfrm>
            <a:off x="777240" y="932688"/>
            <a:ext cx="10637215" cy="777240"/>
          </a:xfrm>
          <a:prstGeom prst="rect">
            <a:avLst/>
          </a:prstGeom>
          <a:noFill/>
        </p:spPr>
        <p:txBody>
          <a:bodyPr wrap="square" anchor="t" lIns="0" rIns="0" tIns="0" bIns="0">
            <a:spAutoFit/>
          </a:bodyPr>
          <a:lstStyle/>
          <a:p>
            <a:pPr algn="l">
              <a:lnSpc>
                <a:spcPct val="100000"/>
              </a:lnSpc>
            </a:pPr>
            <a:r>
              <a:rPr sz="3200" b="1">
                <a:solidFill>
                  <a:srgbClr val="1E242E"/>
                </a:solidFill>
                <a:latin typeface="Segoe UI"/>
              </a:rPr>
              <a:t>Measured, yours, or assumed — never blurred</a:t>
            </a:r>
          </a:p>
        </p:txBody>
      </p:sp>
      <p:sp>
        <p:nvSpPr>
          <p:cNvPr id="4" name="TextBox 3"/>
          <p:cNvSpPr txBox="1"/>
          <p:nvPr/>
        </p:nvSpPr>
        <p:spPr>
          <a:xfrm>
            <a:off x="777240" y="1700784"/>
            <a:ext cx="8778240" cy="640080"/>
          </a:xfrm>
          <a:prstGeom prst="rect">
            <a:avLst/>
          </a:prstGeom>
          <a:noFill/>
        </p:spPr>
        <p:txBody>
          <a:bodyPr wrap="square" anchor="t" lIns="0" rIns="0" tIns="0" bIns="0">
            <a:spAutoFit/>
          </a:bodyPr>
          <a:lstStyle/>
          <a:p>
            <a:pPr algn="l">
              <a:lnSpc>
                <a:spcPct val="125000"/>
              </a:lnSpc>
            </a:pPr>
            <a:r>
              <a:rPr sz="1400" b="0">
                <a:solidFill>
                  <a:srgbClr val="5A6372"/>
                </a:solidFill>
                <a:latin typeface="Segoe UI"/>
              </a:rPr>
              <a:t>Every screen labels where its estate came from. A synthetic estate carries a warning on the executive briefing itself.</a:t>
            </a:r>
          </a:p>
        </p:txBody>
      </p:sp>
      <p:sp>
        <p:nvSpPr>
          <p:cNvPr id="5" name="Rounded Rectangle 4"/>
          <p:cNvSpPr/>
          <p:nvPr/>
        </p:nvSpPr>
        <p:spPr>
          <a:xfrm>
            <a:off x="777240" y="2651760"/>
            <a:ext cx="3362858" cy="2651760"/>
          </a:xfrm>
          <a:prstGeom prst="round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651760"/>
            <a:ext cx="3362858" cy="50292"/>
          </a:xfrm>
          <a:prstGeom prst="rect">
            <a:avLst/>
          </a:prstGeom>
          <a:solidFill>
            <a:srgbClr val="2F9E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2962656"/>
            <a:ext cx="2777642" cy="2066544"/>
          </a:xfrm>
          <a:prstGeom prst="rect">
            <a:avLst/>
          </a:prstGeom>
          <a:noFill/>
        </p:spPr>
        <p:txBody>
          <a:bodyPr wrap="square" anchor="t" lIns="0" rIns="0" tIns="0" bIns="0">
            <a:spAutoFit/>
          </a:bodyPr>
          <a:lstStyle/>
          <a:p>
            <a:pPr algn="l">
              <a:lnSpc>
                <a:spcPct val="122000"/>
              </a:lnSpc>
              <a:spcAft>
                <a:spcPts val="700"/>
              </a:spcAft>
            </a:pPr>
            <a:r>
              <a:rPr sz="1400" b="1">
                <a:solidFill>
                  <a:srgbClr val="1E242E"/>
                </a:solidFill>
                <a:latin typeface="Segoe UI"/>
              </a:rPr>
              <a:t>Live</a:t>
            </a:r>
          </a:p>
          <a:p>
            <a:pPr algn="l">
              <a:lnSpc>
                <a:spcPct val="122000"/>
              </a:lnSpc>
            </a:pPr>
            <a:r>
              <a:rPr sz="1150" b="0">
                <a:solidFill>
                  <a:srgbClr val="5A6372"/>
                </a:solidFill>
                <a:latin typeface="Segoe UI"/>
              </a:rPr>
              <a:t>Azure Retail Prices API and the public AWS rate feed, for your region and currency, fetched while you watch. Google and Oracle use published list prices and are labelled as such.</a:t>
            </a:r>
          </a:p>
        </p:txBody>
      </p:sp>
      <p:sp>
        <p:nvSpPr>
          <p:cNvPr id="8" name="Rounded Rectangle 7"/>
          <p:cNvSpPr/>
          <p:nvPr/>
        </p:nvSpPr>
        <p:spPr>
          <a:xfrm>
            <a:off x="4414418" y="2651760"/>
            <a:ext cx="3362858" cy="2651760"/>
          </a:xfrm>
          <a:prstGeom prst="round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14418" y="2651760"/>
            <a:ext cx="3362858" cy="50292"/>
          </a:xfrm>
          <a:prstGeom prst="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7026" y="2962656"/>
            <a:ext cx="2777642" cy="2066544"/>
          </a:xfrm>
          <a:prstGeom prst="rect">
            <a:avLst/>
          </a:prstGeom>
          <a:noFill/>
        </p:spPr>
        <p:txBody>
          <a:bodyPr wrap="square" anchor="t" lIns="0" rIns="0" tIns="0" bIns="0">
            <a:spAutoFit/>
          </a:bodyPr>
          <a:lstStyle/>
          <a:p>
            <a:pPr algn="l">
              <a:lnSpc>
                <a:spcPct val="122000"/>
              </a:lnSpc>
              <a:spcAft>
                <a:spcPts val="700"/>
              </a:spcAft>
            </a:pPr>
            <a:r>
              <a:rPr sz="1400" b="1">
                <a:solidFill>
                  <a:srgbClr val="1E242E"/>
                </a:solidFill>
                <a:latin typeface="Segoe UI"/>
              </a:rPr>
              <a:t>Measured</a:t>
            </a:r>
          </a:p>
          <a:p>
            <a:pPr algn="l">
              <a:lnSpc>
                <a:spcPct val="122000"/>
              </a:lnSpc>
            </a:pPr>
            <a:r>
              <a:rPr sz="1150" b="0">
                <a:solidFill>
                  <a:srgbClr val="5A6372"/>
                </a:solidFill>
                <a:latin typeface="Segoe UI"/>
              </a:rPr>
              <a:t>Your inventory: VM count, vCPU, RAM, storage, guest OS, clusters and hosts, exactly as discovery found them.</a:t>
            </a:r>
          </a:p>
        </p:txBody>
      </p:sp>
      <p:sp>
        <p:nvSpPr>
          <p:cNvPr id="11" name="Rounded Rectangle 10"/>
          <p:cNvSpPr/>
          <p:nvPr/>
        </p:nvSpPr>
        <p:spPr>
          <a:xfrm>
            <a:off x="8051596" y="2651760"/>
            <a:ext cx="3362858" cy="2651760"/>
          </a:xfrm>
          <a:prstGeom prst="round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51596" y="2651760"/>
            <a:ext cx="3362858" cy="50292"/>
          </a:xfrm>
          <a:prstGeom prst="rect">
            <a:avLst/>
          </a:pr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4204" y="2962656"/>
            <a:ext cx="2777642" cy="2066544"/>
          </a:xfrm>
          <a:prstGeom prst="rect">
            <a:avLst/>
          </a:prstGeom>
          <a:noFill/>
        </p:spPr>
        <p:txBody>
          <a:bodyPr wrap="square" anchor="t" lIns="0" rIns="0" tIns="0" bIns="0">
            <a:spAutoFit/>
          </a:bodyPr>
          <a:lstStyle/>
          <a:p>
            <a:pPr algn="l">
              <a:lnSpc>
                <a:spcPct val="122000"/>
              </a:lnSpc>
              <a:spcAft>
                <a:spcPts val="700"/>
              </a:spcAft>
            </a:pPr>
            <a:r>
              <a:rPr sz="1400" b="1">
                <a:solidFill>
                  <a:srgbClr val="1E242E"/>
                </a:solidFill>
                <a:latin typeface="Segoe UI"/>
              </a:rPr>
              <a:t>Assumed, and listed</a:t>
            </a:r>
          </a:p>
          <a:p>
            <a:pPr algn="l">
              <a:lnSpc>
                <a:spcPct val="122000"/>
              </a:lnSpc>
            </a:pPr>
            <a:r>
              <a:rPr sz="1150" b="0">
                <a:solidFill>
                  <a:srgbClr val="5A6372"/>
                </a:solidFill>
                <a:latin typeface="Segoe UI"/>
              </a:rPr>
              <a:t>Labour rates, replication bandwidth, discount rate and the on-premises cost base. Every one is on the Model &amp; assumptions page with the screen that controls it.</a:t>
            </a:r>
          </a:p>
        </p:txBody>
      </p:sp>
      <p:sp>
        <p:nvSpPr>
          <p:cNvPr id="14" name="TextBox 13"/>
          <p:cNvSpPr txBox="1"/>
          <p:nvPr/>
        </p:nvSpPr>
        <p:spPr>
          <a:xfrm>
            <a:off x="777240" y="5623560"/>
            <a:ext cx="10637215" cy="457200"/>
          </a:xfrm>
          <a:prstGeom prst="rect">
            <a:avLst/>
          </a:prstGeom>
          <a:noFill/>
        </p:spPr>
        <p:txBody>
          <a:bodyPr wrap="square" anchor="t" lIns="0" rIns="0" tIns="0" bIns="0">
            <a:spAutoFit/>
          </a:bodyPr>
          <a:lstStyle/>
          <a:p>
            <a:pPr algn="l">
              <a:lnSpc>
                <a:spcPct val="100000"/>
              </a:lnSpc>
            </a:pPr>
            <a:r>
              <a:rPr sz="1300" b="1">
                <a:solidFill>
                  <a:srgbClr val="1E242E"/>
                </a:solidFill>
                <a:latin typeface="Segoe UI"/>
              </a:rPr>
              <a:t>The two that drive every ratio are the estate and your current cost base. Supply both and the business case is yours, not ours.</a:t>
            </a:r>
          </a:p>
        </p:txBody>
      </p:sp>
      <p:sp>
        <p:nvSpPr>
          <p:cNvPr id="15" name="TextBox 14"/>
          <p:cNvSpPr txBox="1"/>
          <p:nvPr/>
        </p:nvSpPr>
        <p:spPr>
          <a:xfrm>
            <a:off x="777240" y="6355080"/>
            <a:ext cx="5486400" cy="274320"/>
          </a:xfrm>
          <a:prstGeom prst="rect">
            <a:avLst/>
          </a:prstGeom>
          <a:noFill/>
        </p:spPr>
        <p:txBody>
          <a:bodyPr wrap="square" anchor="t" lIns="0" rIns="0" tIns="0" bIns="0">
            <a:spAutoFit/>
          </a:bodyPr>
          <a:lstStyle/>
          <a:p>
            <a:pPr algn="l">
              <a:lnSpc>
                <a:spcPct val="100000"/>
              </a:lnSpc>
            </a:pPr>
            <a:r>
              <a:rPr sz="900" b="0">
                <a:solidFill>
                  <a:srgbClr val="5A6372"/>
                </a:solidFill>
                <a:latin typeface="Segoe UI"/>
              </a:rPr>
              <a:t>CISCLD Ascend  ·  onpremtocloud.streamlit.app</a:t>
            </a:r>
          </a:p>
        </p:txBody>
      </p:sp>
      <p:sp>
        <p:nvSpPr>
          <p:cNvPr id="16" name="TextBox 15"/>
          <p:cNvSpPr txBox="1"/>
          <p:nvPr/>
        </p:nvSpPr>
        <p:spPr>
          <a:xfrm>
            <a:off x="10500055" y="6355080"/>
            <a:ext cx="914400" cy="274320"/>
          </a:xfrm>
          <a:prstGeom prst="rect">
            <a:avLst/>
          </a:prstGeom>
          <a:noFill/>
        </p:spPr>
        <p:txBody>
          <a:bodyPr wrap="square" anchor="t" lIns="0" rIns="0" tIns="0" bIns="0">
            <a:spAutoFit/>
          </a:bodyPr>
          <a:lstStyle/>
          <a:p>
            <a:pPr algn="r">
              <a:lnSpc>
                <a:spcPct val="100000"/>
              </a:lnSpc>
            </a:pPr>
            <a:r>
              <a:rPr sz="900" b="0">
                <a:solidFill>
                  <a:srgbClr val="5A6372"/>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C17"/>
        </a:solidFill>
        <a:effectLst/>
      </p:bgPr>
    </p:bg>
    <p:spTree>
      <p:nvGrpSpPr>
        <p:cNvPr id="1" name=""/>
        <p:cNvGrpSpPr/>
        <p:nvPr/>
      </p:nvGrpSpPr>
      <p:grpSpPr/>
      <p:sp>
        <p:nvSpPr>
          <p:cNvPr id="2" name="Rectangle 1"/>
          <p:cNvSpPr/>
          <p:nvPr/>
        </p:nvSpPr>
        <p:spPr>
          <a:xfrm>
            <a:off x="0" y="0"/>
            <a:ext cx="5120511" cy="82296"/>
          </a:xfrm>
          <a:prstGeom prst="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120511" y="0"/>
            <a:ext cx="3413674" cy="82296"/>
          </a:xfrm>
          <a:prstGeom prst="rect">
            <a:avLst/>
          </a:prstGeom>
          <a:solidFill>
            <a:srgbClr val="7A5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468880"/>
            <a:ext cx="9144000" cy="365760"/>
          </a:xfrm>
          <a:prstGeom prst="rect">
            <a:avLst/>
          </a:prstGeom>
          <a:noFill/>
        </p:spPr>
        <p:txBody>
          <a:bodyPr wrap="square" anchor="t" lIns="0" rIns="0" tIns="0" bIns="0">
            <a:spAutoFit/>
          </a:bodyPr>
          <a:lstStyle/>
          <a:p>
            <a:pPr algn="l">
              <a:lnSpc>
                <a:spcPct val="100000"/>
              </a:lnSpc>
            </a:pPr>
            <a:r>
              <a:rPr sz="1300" b="1">
                <a:solidFill>
                  <a:srgbClr val="3B6FD4"/>
                </a:solidFill>
                <a:latin typeface="Consolas"/>
              </a:rPr>
              <a:t>USING IT</a:t>
            </a:r>
          </a:p>
        </p:txBody>
      </p:sp>
      <p:sp>
        <p:nvSpPr>
          <p:cNvPr id="5" name="TextBox 4"/>
          <p:cNvSpPr txBox="1"/>
          <p:nvPr/>
        </p:nvSpPr>
        <p:spPr>
          <a:xfrm>
            <a:off x="777240" y="2880360"/>
            <a:ext cx="10058400" cy="914400"/>
          </a:xfrm>
          <a:prstGeom prst="rect">
            <a:avLst/>
          </a:prstGeom>
          <a:noFill/>
        </p:spPr>
        <p:txBody>
          <a:bodyPr wrap="square" anchor="t" lIns="0" rIns="0" tIns="0" bIns="0">
            <a:spAutoFit/>
          </a:bodyPr>
          <a:lstStyle/>
          <a:p>
            <a:pPr algn="l">
              <a:lnSpc>
                <a:spcPct val="100000"/>
              </a:lnSpc>
            </a:pPr>
            <a:r>
              <a:rPr sz="4400" b="1">
                <a:solidFill>
                  <a:srgbClr val="E8EDF7"/>
                </a:solidFill>
                <a:latin typeface="Segoe UI"/>
              </a:rPr>
              <a:t>On your estate, in your session</a:t>
            </a:r>
          </a:p>
        </p:txBody>
      </p:sp>
      <p:sp>
        <p:nvSpPr>
          <p:cNvPr id="6" name="TextBox 5"/>
          <p:cNvSpPr txBox="1"/>
          <p:nvPr/>
        </p:nvSpPr>
        <p:spPr>
          <a:xfrm>
            <a:off x="777240" y="3977639"/>
            <a:ext cx="8229600" cy="731520"/>
          </a:xfrm>
          <a:prstGeom prst="rect">
            <a:avLst/>
          </a:prstGeom>
          <a:noFill/>
        </p:spPr>
        <p:txBody>
          <a:bodyPr wrap="square" anchor="t" lIns="0" rIns="0" tIns="0" bIns="0">
            <a:spAutoFit/>
          </a:bodyPr>
          <a:lstStyle/>
          <a:p>
            <a:pPr algn="l">
              <a:lnSpc>
                <a:spcPct val="130000"/>
              </a:lnSpc>
            </a:pPr>
            <a:r>
              <a:rPr sz="1500" b="0">
                <a:solidFill>
                  <a:srgbClr val="9FACC4"/>
                </a:solidFill>
                <a:latin typeface="Segoe UI"/>
              </a:rPr>
              <a:t>Nothing is presented as an answer until Ascend knows whose estate it is modelling.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nchor="t" lIns="0" rIns="0" tIns="0" bIns="0">
            <a:spAutoFit/>
          </a:bodyPr>
          <a:lstStyle/>
          <a:p>
            <a:pPr algn="l">
              <a:lnSpc>
                <a:spcPct val="100000"/>
              </a:lnSpc>
            </a:pPr>
            <a:r>
              <a:rPr sz="1100" b="1">
                <a:solidFill>
                  <a:srgbClr val="3B6FD4"/>
                </a:solidFill>
                <a:latin typeface="Segoe UI"/>
              </a:rPr>
              <a:t>USING IT ON YOUR ESTATE</a:t>
            </a:r>
          </a:p>
        </p:txBody>
      </p:sp>
      <p:sp>
        <p:nvSpPr>
          <p:cNvPr id="3" name="TextBox 2"/>
          <p:cNvSpPr txBox="1"/>
          <p:nvPr/>
        </p:nvSpPr>
        <p:spPr>
          <a:xfrm>
            <a:off x="777240" y="932688"/>
            <a:ext cx="10637215" cy="777240"/>
          </a:xfrm>
          <a:prstGeom prst="rect">
            <a:avLst/>
          </a:prstGeom>
          <a:noFill/>
        </p:spPr>
        <p:txBody>
          <a:bodyPr wrap="square" anchor="t" lIns="0" rIns="0" tIns="0" bIns="0">
            <a:spAutoFit/>
          </a:bodyPr>
          <a:lstStyle/>
          <a:p>
            <a:pPr algn="l">
              <a:lnSpc>
                <a:spcPct val="100000"/>
              </a:lnSpc>
            </a:pPr>
            <a:r>
              <a:rPr sz="3200" b="1">
                <a:solidFill>
                  <a:srgbClr val="1E242E"/>
                </a:solidFill>
                <a:latin typeface="Segoe UI"/>
              </a:rPr>
              <a:t>Your inventory in, in about two minutes</a:t>
            </a:r>
          </a:p>
        </p:txBody>
      </p:sp>
      <p:sp>
        <p:nvSpPr>
          <p:cNvPr id="4" name="TextBox 3"/>
          <p:cNvSpPr txBox="1"/>
          <p:nvPr/>
        </p:nvSpPr>
        <p:spPr>
          <a:xfrm>
            <a:off x="777240" y="1700784"/>
            <a:ext cx="8778240" cy="640080"/>
          </a:xfrm>
          <a:prstGeom prst="rect">
            <a:avLst/>
          </a:prstGeom>
          <a:noFill/>
        </p:spPr>
        <p:txBody>
          <a:bodyPr wrap="square" anchor="t" lIns="0" rIns="0" tIns="0" bIns="0">
            <a:spAutoFit/>
          </a:bodyPr>
          <a:lstStyle/>
          <a:p>
            <a:pPr algn="l">
              <a:lnSpc>
                <a:spcPct val="125000"/>
              </a:lnSpc>
            </a:pPr>
            <a:r>
              <a:rPr sz="1400" b="0">
                <a:solidFill>
                  <a:srgbClr val="5A6372"/>
                </a:solidFill>
                <a:latin typeface="Segoe UI"/>
              </a:rPr>
              <a:t>Ascend refuses to show an answer until it knows whose estate it is modelling.</a:t>
            </a:r>
          </a:p>
        </p:txBody>
      </p:sp>
      <p:sp>
        <p:nvSpPr>
          <p:cNvPr id="5" name="Rectangle 4"/>
          <p:cNvSpPr/>
          <p:nvPr/>
        </p:nvSpPr>
        <p:spPr>
          <a:xfrm>
            <a:off x="777240" y="2825496"/>
            <a:ext cx="45720" cy="201168"/>
          </a:xfrm>
          <a:prstGeom prst="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 y="2743200"/>
            <a:ext cx="10417759" cy="868680"/>
          </a:xfrm>
          <a:prstGeom prst="rect">
            <a:avLst/>
          </a:prstGeom>
          <a:noFill/>
        </p:spPr>
        <p:txBody>
          <a:bodyPr wrap="square" anchor="t" lIns="0" rIns="0" tIns="0" bIns="0">
            <a:spAutoFit/>
          </a:bodyPr>
          <a:lstStyle/>
          <a:p>
            <a:pPr algn="l">
              <a:lnSpc>
                <a:spcPct val="122000"/>
              </a:lnSpc>
              <a:spcAft>
                <a:spcPts val="500"/>
              </a:spcAft>
            </a:pPr>
            <a:r>
              <a:rPr sz="1350" b="1">
                <a:solidFill>
                  <a:srgbClr val="1E242E"/>
                </a:solidFill>
                <a:latin typeface="Segoe UI"/>
              </a:rPr>
              <a:t>Upload an RVTools export</a:t>
            </a:r>
          </a:p>
          <a:p>
            <a:pPr algn="l">
              <a:lnSpc>
                <a:spcPct val="122000"/>
              </a:lnSpc>
            </a:pPr>
            <a:r>
              <a:rPr sz="1150" b="0">
                <a:solidFill>
                  <a:srgbClr val="5A6372"/>
                </a:solidFill>
                <a:latin typeface="Segoe UI"/>
              </a:rPr>
              <a:t>The vInfo sheet, or any CSV with a VM name, CPU, memory and guest OS. RVTools column names are recognised automatically.</a:t>
            </a:r>
          </a:p>
        </p:txBody>
      </p:sp>
      <p:sp>
        <p:nvSpPr>
          <p:cNvPr id="7" name="Rectangle 6"/>
          <p:cNvSpPr/>
          <p:nvPr/>
        </p:nvSpPr>
        <p:spPr>
          <a:xfrm>
            <a:off x="777240" y="3694176"/>
            <a:ext cx="45720" cy="201168"/>
          </a:xfrm>
          <a:prstGeom prst="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6" y="3611880"/>
            <a:ext cx="10417759" cy="868680"/>
          </a:xfrm>
          <a:prstGeom prst="rect">
            <a:avLst/>
          </a:prstGeom>
          <a:noFill/>
        </p:spPr>
        <p:txBody>
          <a:bodyPr wrap="square" anchor="t" lIns="0" rIns="0" tIns="0" bIns="0">
            <a:spAutoFit/>
          </a:bodyPr>
          <a:lstStyle/>
          <a:p>
            <a:pPr algn="l">
              <a:lnSpc>
                <a:spcPct val="122000"/>
              </a:lnSpc>
              <a:spcAft>
                <a:spcPts val="500"/>
              </a:spcAft>
            </a:pPr>
            <a:r>
              <a:rPr sz="1350" b="1">
                <a:solidFill>
                  <a:srgbClr val="1E242E"/>
                </a:solidFill>
                <a:latin typeface="Segoe UI"/>
              </a:rPr>
              <a:t>It reads what the export actually carries</a:t>
            </a:r>
          </a:p>
          <a:p>
            <a:pPr algn="l">
              <a:lnSpc>
                <a:spcPct val="122000"/>
              </a:lnSpc>
            </a:pPr>
            <a:r>
              <a:rPr sz="1150" b="0">
                <a:solidFill>
                  <a:srgbClr val="5A6372"/>
                </a:solidFill>
                <a:latin typeface="Segoe UI"/>
              </a:rPr>
              <a:t>Environment from your folder structure, workload tier and database engine from your naming conventions, applications from separated host names. Each one reports how many VMs it recognised.</a:t>
            </a:r>
          </a:p>
        </p:txBody>
      </p:sp>
      <p:sp>
        <p:nvSpPr>
          <p:cNvPr id="9" name="Rectangle 8"/>
          <p:cNvSpPr/>
          <p:nvPr/>
        </p:nvSpPr>
        <p:spPr>
          <a:xfrm>
            <a:off x="777240" y="4562856"/>
            <a:ext cx="45720" cy="201168"/>
          </a:xfrm>
          <a:prstGeom prst="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4480560"/>
            <a:ext cx="10417759" cy="868680"/>
          </a:xfrm>
          <a:prstGeom prst="rect">
            <a:avLst/>
          </a:prstGeom>
          <a:noFill/>
        </p:spPr>
        <p:txBody>
          <a:bodyPr wrap="square" anchor="t" lIns="0" rIns="0" tIns="0" bIns="0">
            <a:spAutoFit/>
          </a:bodyPr>
          <a:lstStyle/>
          <a:p>
            <a:pPr algn="l">
              <a:lnSpc>
                <a:spcPct val="122000"/>
              </a:lnSpc>
              <a:spcAft>
                <a:spcPts val="500"/>
              </a:spcAft>
            </a:pPr>
            <a:r>
              <a:rPr sz="1350" b="1">
                <a:solidFill>
                  <a:srgbClr val="1E242E"/>
                </a:solidFill>
                <a:latin typeface="Segoe UI"/>
              </a:rPr>
              <a:t>It says plainly what it could not find</a:t>
            </a:r>
          </a:p>
          <a:p>
            <a:pPr algn="l">
              <a:lnSpc>
                <a:spcPct val="122000"/>
              </a:lnSpc>
            </a:pPr>
            <a:r>
              <a:rPr sz="1150" b="0">
                <a:solidFill>
                  <a:srgbClr val="5A6372"/>
                </a:solidFill>
                <a:latin typeface="Segoe UI"/>
              </a:rPr>
              <a:t>vInfo has no performance counters, so right-sizing falls back to as-provisioned — the same position as a one-star Azure Migrate assessment. Ascend tells you, rather than presenting the gap as a finding.</a:t>
            </a:r>
          </a:p>
        </p:txBody>
      </p:sp>
      <p:sp>
        <p:nvSpPr>
          <p:cNvPr id="11" name="Rectangle 10"/>
          <p:cNvSpPr/>
          <p:nvPr/>
        </p:nvSpPr>
        <p:spPr>
          <a:xfrm>
            <a:off x="777240" y="5431536"/>
            <a:ext cx="45720" cy="201168"/>
          </a:xfrm>
          <a:prstGeom prst="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6" y="5349240"/>
            <a:ext cx="10417759" cy="868680"/>
          </a:xfrm>
          <a:prstGeom prst="rect">
            <a:avLst/>
          </a:prstGeom>
          <a:noFill/>
        </p:spPr>
        <p:txBody>
          <a:bodyPr wrap="square" anchor="t" lIns="0" rIns="0" tIns="0" bIns="0">
            <a:spAutoFit/>
          </a:bodyPr>
          <a:lstStyle/>
          <a:p>
            <a:pPr algn="l">
              <a:lnSpc>
                <a:spcPct val="122000"/>
              </a:lnSpc>
              <a:spcAft>
                <a:spcPts val="500"/>
              </a:spcAft>
            </a:pPr>
            <a:r>
              <a:rPr sz="1350" b="1">
                <a:solidFill>
                  <a:srgbClr val="1E242E"/>
                </a:solidFill>
                <a:latin typeface="Segoe UI"/>
              </a:rPr>
              <a:t>No inventory yet? Enter six headline numbers</a:t>
            </a:r>
          </a:p>
          <a:p>
            <a:pPr algn="l">
              <a:lnSpc>
                <a:spcPct val="122000"/>
              </a:lnSpc>
            </a:pPr>
            <a:r>
              <a:rPr sz="1150" b="0">
                <a:solidFill>
                  <a:srgbClr val="5A6372"/>
                </a:solidFill>
                <a:latin typeface="Segoe UI"/>
              </a:rPr>
              <a:t>VM count, Windows split, total vCPU, RAM, storage and current platform spend. The distribution is modelled; the totals are yours, and the app labels which half is which.</a:t>
            </a:r>
          </a:p>
        </p:txBody>
      </p:sp>
      <p:sp>
        <p:nvSpPr>
          <p:cNvPr id="13" name="TextBox 12"/>
          <p:cNvSpPr txBox="1"/>
          <p:nvPr/>
        </p:nvSpPr>
        <p:spPr>
          <a:xfrm>
            <a:off x="777240" y="6355080"/>
            <a:ext cx="5486400" cy="274320"/>
          </a:xfrm>
          <a:prstGeom prst="rect">
            <a:avLst/>
          </a:prstGeom>
          <a:noFill/>
        </p:spPr>
        <p:txBody>
          <a:bodyPr wrap="square" anchor="t" lIns="0" rIns="0" tIns="0" bIns="0">
            <a:spAutoFit/>
          </a:bodyPr>
          <a:lstStyle/>
          <a:p>
            <a:pPr algn="l">
              <a:lnSpc>
                <a:spcPct val="100000"/>
              </a:lnSpc>
            </a:pPr>
            <a:r>
              <a:rPr sz="900" b="0">
                <a:solidFill>
                  <a:srgbClr val="5A6372"/>
                </a:solidFill>
                <a:latin typeface="Segoe UI"/>
              </a:rPr>
              <a:t>CISCLD Ascend  ·  onpremtocloud.streamlit.app</a:t>
            </a:r>
          </a:p>
        </p:txBody>
      </p:sp>
      <p:sp>
        <p:nvSpPr>
          <p:cNvPr id="14" name="TextBox 13"/>
          <p:cNvSpPr txBox="1"/>
          <p:nvPr/>
        </p:nvSpPr>
        <p:spPr>
          <a:xfrm>
            <a:off x="10500055" y="6355080"/>
            <a:ext cx="914400" cy="274320"/>
          </a:xfrm>
          <a:prstGeom prst="rect">
            <a:avLst/>
          </a:prstGeom>
          <a:noFill/>
        </p:spPr>
        <p:txBody>
          <a:bodyPr wrap="square" anchor="t" lIns="0" rIns="0" tIns="0" bIns="0">
            <a:spAutoFit/>
          </a:bodyPr>
          <a:lstStyle/>
          <a:p>
            <a:pPr algn="r">
              <a:lnSpc>
                <a:spcPct val="100000"/>
              </a:lnSpc>
            </a:pPr>
            <a:r>
              <a:rPr sz="900" b="0">
                <a:solidFill>
                  <a:srgbClr val="5A6372"/>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nchor="t" lIns="0" rIns="0" tIns="0" bIns="0">
            <a:spAutoFit/>
          </a:bodyPr>
          <a:lstStyle/>
          <a:p>
            <a:pPr algn="l">
              <a:lnSpc>
                <a:spcPct val="100000"/>
              </a:lnSpc>
            </a:pPr>
            <a:r>
              <a:rPr sz="1100" b="1">
                <a:solidFill>
                  <a:srgbClr val="3B6FD4"/>
                </a:solidFill>
                <a:latin typeface="Segoe UI"/>
              </a:rPr>
              <a:t>THE SESSION</a:t>
            </a:r>
          </a:p>
        </p:txBody>
      </p:sp>
      <p:sp>
        <p:nvSpPr>
          <p:cNvPr id="3" name="TextBox 2"/>
          <p:cNvSpPr txBox="1"/>
          <p:nvPr/>
        </p:nvSpPr>
        <p:spPr>
          <a:xfrm>
            <a:off x="777240" y="932688"/>
            <a:ext cx="10637215" cy="777240"/>
          </a:xfrm>
          <a:prstGeom prst="rect">
            <a:avLst/>
          </a:prstGeom>
          <a:noFill/>
        </p:spPr>
        <p:txBody>
          <a:bodyPr wrap="square" anchor="t" lIns="0" rIns="0" tIns="0" bIns="0">
            <a:spAutoFit/>
          </a:bodyPr>
          <a:lstStyle/>
          <a:p>
            <a:pPr algn="l">
              <a:lnSpc>
                <a:spcPct val="100000"/>
              </a:lnSpc>
            </a:pPr>
            <a:r>
              <a:rPr sz="3200" b="1">
                <a:solidFill>
                  <a:srgbClr val="1E242E"/>
                </a:solidFill>
                <a:latin typeface="Segoe UI"/>
              </a:rPr>
              <a:t>Seven acts, in the order a client asks the questions</a:t>
            </a:r>
          </a:p>
        </p:txBody>
      </p:sp>
      <p:sp>
        <p:nvSpPr>
          <p:cNvPr id="4" name="Rounded Rectangle 3"/>
          <p:cNvSpPr/>
          <p:nvPr/>
        </p:nvSpPr>
        <p:spPr>
          <a:xfrm>
            <a:off x="777240" y="2286000"/>
            <a:ext cx="384048" cy="384048"/>
          </a:xfrm>
          <a:prstGeom prst="round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359152"/>
            <a:ext cx="384048" cy="274320"/>
          </a:xfrm>
          <a:prstGeom prst="rect">
            <a:avLst/>
          </a:prstGeom>
          <a:noFill/>
        </p:spPr>
        <p:txBody>
          <a:bodyPr wrap="square" anchor="t" lIns="0" rIns="0" tIns="0" bIns="0">
            <a:spAutoFit/>
          </a:bodyPr>
          <a:lstStyle/>
          <a:p>
            <a:pPr algn="ctr">
              <a:lnSpc>
                <a:spcPct val="100000"/>
              </a:lnSpc>
            </a:pPr>
            <a:r>
              <a:rPr sz="1300" b="1">
                <a:solidFill>
                  <a:srgbClr val="E8EDF7"/>
                </a:solidFill>
                <a:latin typeface="Segoe UI"/>
              </a:rPr>
              <a:t>1</a:t>
            </a:r>
          </a:p>
        </p:txBody>
      </p:sp>
      <p:sp>
        <p:nvSpPr>
          <p:cNvPr id="6" name="TextBox 5"/>
          <p:cNvSpPr txBox="1"/>
          <p:nvPr/>
        </p:nvSpPr>
        <p:spPr>
          <a:xfrm>
            <a:off x="1344168" y="2304288"/>
            <a:ext cx="2194560" cy="365760"/>
          </a:xfrm>
          <a:prstGeom prst="rect">
            <a:avLst/>
          </a:prstGeom>
          <a:noFill/>
        </p:spPr>
        <p:txBody>
          <a:bodyPr wrap="square" anchor="t" lIns="0" rIns="0" tIns="0" bIns="0">
            <a:spAutoFit/>
          </a:bodyPr>
          <a:lstStyle/>
          <a:p>
            <a:pPr algn="l">
              <a:lnSpc>
                <a:spcPct val="100000"/>
              </a:lnSpc>
            </a:pPr>
            <a:r>
              <a:rPr sz="1500" b="1">
                <a:solidFill>
                  <a:srgbClr val="1E242E"/>
                </a:solidFill>
                <a:latin typeface="Segoe UI"/>
              </a:rPr>
              <a:t>Situation</a:t>
            </a:r>
          </a:p>
        </p:txBody>
      </p:sp>
      <p:sp>
        <p:nvSpPr>
          <p:cNvPr id="7" name="TextBox 6"/>
          <p:cNvSpPr txBox="1"/>
          <p:nvPr/>
        </p:nvSpPr>
        <p:spPr>
          <a:xfrm>
            <a:off x="3611880" y="2331720"/>
            <a:ext cx="7680960" cy="365760"/>
          </a:xfrm>
          <a:prstGeom prst="rect">
            <a:avLst/>
          </a:prstGeom>
          <a:noFill/>
        </p:spPr>
        <p:txBody>
          <a:bodyPr wrap="square" anchor="t" lIns="0" rIns="0" tIns="0" bIns="0">
            <a:spAutoFit/>
          </a:bodyPr>
          <a:lstStyle/>
          <a:p>
            <a:pPr algn="l">
              <a:lnSpc>
                <a:spcPct val="100000"/>
              </a:lnSpc>
            </a:pPr>
            <a:r>
              <a:rPr sz="1300" b="0">
                <a:solidFill>
                  <a:srgbClr val="5A6372"/>
                </a:solidFill>
                <a:latin typeface="Segoe UI"/>
              </a:rPr>
              <a:t>What is the answer, and what are we assuming?</a:t>
            </a:r>
          </a:p>
        </p:txBody>
      </p:sp>
      <p:sp>
        <p:nvSpPr>
          <p:cNvPr id="8" name="Rounded Rectangle 7"/>
          <p:cNvSpPr/>
          <p:nvPr/>
        </p:nvSpPr>
        <p:spPr>
          <a:xfrm>
            <a:off x="777240" y="2852928"/>
            <a:ext cx="384048" cy="384048"/>
          </a:xfrm>
          <a:prstGeom prst="round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26080"/>
            <a:ext cx="384048" cy="274320"/>
          </a:xfrm>
          <a:prstGeom prst="rect">
            <a:avLst/>
          </a:prstGeom>
          <a:noFill/>
        </p:spPr>
        <p:txBody>
          <a:bodyPr wrap="square" anchor="t" lIns="0" rIns="0" tIns="0" bIns="0">
            <a:spAutoFit/>
          </a:bodyPr>
          <a:lstStyle/>
          <a:p>
            <a:pPr algn="ctr">
              <a:lnSpc>
                <a:spcPct val="100000"/>
              </a:lnSpc>
            </a:pPr>
            <a:r>
              <a:rPr sz="1300" b="1">
                <a:solidFill>
                  <a:srgbClr val="E8EDF7"/>
                </a:solidFill>
                <a:latin typeface="Segoe UI"/>
              </a:rPr>
              <a:t>2</a:t>
            </a:r>
          </a:p>
        </p:txBody>
      </p:sp>
      <p:sp>
        <p:nvSpPr>
          <p:cNvPr id="10" name="TextBox 9"/>
          <p:cNvSpPr txBox="1"/>
          <p:nvPr/>
        </p:nvSpPr>
        <p:spPr>
          <a:xfrm>
            <a:off x="1344168" y="2871216"/>
            <a:ext cx="2194560" cy="365760"/>
          </a:xfrm>
          <a:prstGeom prst="rect">
            <a:avLst/>
          </a:prstGeom>
          <a:noFill/>
        </p:spPr>
        <p:txBody>
          <a:bodyPr wrap="square" anchor="t" lIns="0" rIns="0" tIns="0" bIns="0">
            <a:spAutoFit/>
          </a:bodyPr>
          <a:lstStyle/>
          <a:p>
            <a:pPr algn="l">
              <a:lnSpc>
                <a:spcPct val="100000"/>
              </a:lnSpc>
            </a:pPr>
            <a:r>
              <a:rPr sz="1500" b="1">
                <a:solidFill>
                  <a:srgbClr val="1E242E"/>
                </a:solidFill>
                <a:latin typeface="Segoe UI"/>
              </a:rPr>
              <a:t>Discover</a:t>
            </a:r>
          </a:p>
        </p:txBody>
      </p:sp>
      <p:sp>
        <p:nvSpPr>
          <p:cNvPr id="11" name="TextBox 10"/>
          <p:cNvSpPr txBox="1"/>
          <p:nvPr/>
        </p:nvSpPr>
        <p:spPr>
          <a:xfrm>
            <a:off x="3611880" y="2898648"/>
            <a:ext cx="7680960" cy="365760"/>
          </a:xfrm>
          <a:prstGeom prst="rect">
            <a:avLst/>
          </a:prstGeom>
          <a:noFill/>
        </p:spPr>
        <p:txBody>
          <a:bodyPr wrap="square" anchor="t" lIns="0" rIns="0" tIns="0" bIns="0">
            <a:spAutoFit/>
          </a:bodyPr>
          <a:lstStyle/>
          <a:p>
            <a:pPr algn="l">
              <a:lnSpc>
                <a:spcPct val="100000"/>
              </a:lnSpc>
            </a:pPr>
            <a:r>
              <a:rPr sz="1300" b="0">
                <a:solidFill>
                  <a:srgbClr val="5A6372"/>
                </a:solidFill>
                <a:latin typeface="Segoe UI"/>
              </a:rPr>
              <a:t>What do you actually have?</a:t>
            </a:r>
          </a:p>
        </p:txBody>
      </p:sp>
      <p:sp>
        <p:nvSpPr>
          <p:cNvPr id="12" name="Rounded Rectangle 11"/>
          <p:cNvSpPr/>
          <p:nvPr/>
        </p:nvSpPr>
        <p:spPr>
          <a:xfrm>
            <a:off x="777240" y="3419856"/>
            <a:ext cx="384048" cy="384048"/>
          </a:xfrm>
          <a:prstGeom prst="round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493008"/>
            <a:ext cx="384048" cy="274320"/>
          </a:xfrm>
          <a:prstGeom prst="rect">
            <a:avLst/>
          </a:prstGeom>
          <a:noFill/>
        </p:spPr>
        <p:txBody>
          <a:bodyPr wrap="square" anchor="t" lIns="0" rIns="0" tIns="0" bIns="0">
            <a:spAutoFit/>
          </a:bodyPr>
          <a:lstStyle/>
          <a:p>
            <a:pPr algn="ctr">
              <a:lnSpc>
                <a:spcPct val="100000"/>
              </a:lnSpc>
            </a:pPr>
            <a:r>
              <a:rPr sz="1300" b="1">
                <a:solidFill>
                  <a:srgbClr val="E8EDF7"/>
                </a:solidFill>
                <a:latin typeface="Segoe UI"/>
              </a:rPr>
              <a:t>3</a:t>
            </a:r>
          </a:p>
        </p:txBody>
      </p:sp>
      <p:sp>
        <p:nvSpPr>
          <p:cNvPr id="14" name="TextBox 13"/>
          <p:cNvSpPr txBox="1"/>
          <p:nvPr/>
        </p:nvSpPr>
        <p:spPr>
          <a:xfrm>
            <a:off x="1344168" y="3438144"/>
            <a:ext cx="2194560" cy="365760"/>
          </a:xfrm>
          <a:prstGeom prst="rect">
            <a:avLst/>
          </a:prstGeom>
          <a:noFill/>
        </p:spPr>
        <p:txBody>
          <a:bodyPr wrap="square" anchor="t" lIns="0" rIns="0" tIns="0" bIns="0">
            <a:spAutoFit/>
          </a:bodyPr>
          <a:lstStyle/>
          <a:p>
            <a:pPr algn="l">
              <a:lnSpc>
                <a:spcPct val="100000"/>
              </a:lnSpc>
            </a:pPr>
            <a:r>
              <a:rPr sz="1500" b="1">
                <a:solidFill>
                  <a:srgbClr val="1E242E"/>
                </a:solidFill>
                <a:latin typeface="Segoe UI"/>
              </a:rPr>
              <a:t>Assess</a:t>
            </a:r>
          </a:p>
        </p:txBody>
      </p:sp>
      <p:sp>
        <p:nvSpPr>
          <p:cNvPr id="15" name="TextBox 14"/>
          <p:cNvSpPr txBox="1"/>
          <p:nvPr/>
        </p:nvSpPr>
        <p:spPr>
          <a:xfrm>
            <a:off x="3611880" y="3465576"/>
            <a:ext cx="7680960" cy="365760"/>
          </a:xfrm>
          <a:prstGeom prst="rect">
            <a:avLst/>
          </a:prstGeom>
          <a:noFill/>
        </p:spPr>
        <p:txBody>
          <a:bodyPr wrap="square" anchor="t" lIns="0" rIns="0" tIns="0" bIns="0">
            <a:spAutoFit/>
          </a:bodyPr>
          <a:lstStyle/>
          <a:p>
            <a:pPr algn="l">
              <a:lnSpc>
                <a:spcPct val="100000"/>
              </a:lnSpc>
            </a:pPr>
            <a:r>
              <a:rPr sz="1300" b="0">
                <a:solidFill>
                  <a:srgbClr val="5A6372"/>
                </a:solidFill>
                <a:latin typeface="Segoe UI"/>
              </a:rPr>
              <a:t>What should happen to each workload, and how hard is it?</a:t>
            </a:r>
          </a:p>
        </p:txBody>
      </p:sp>
      <p:sp>
        <p:nvSpPr>
          <p:cNvPr id="16" name="Rounded Rectangle 15"/>
          <p:cNvSpPr/>
          <p:nvPr/>
        </p:nvSpPr>
        <p:spPr>
          <a:xfrm>
            <a:off x="777240" y="3986784"/>
            <a:ext cx="384048" cy="384048"/>
          </a:xfrm>
          <a:prstGeom prst="round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059936"/>
            <a:ext cx="384048" cy="274320"/>
          </a:xfrm>
          <a:prstGeom prst="rect">
            <a:avLst/>
          </a:prstGeom>
          <a:noFill/>
        </p:spPr>
        <p:txBody>
          <a:bodyPr wrap="square" anchor="t" lIns="0" rIns="0" tIns="0" bIns="0">
            <a:spAutoFit/>
          </a:bodyPr>
          <a:lstStyle/>
          <a:p>
            <a:pPr algn="ctr">
              <a:lnSpc>
                <a:spcPct val="100000"/>
              </a:lnSpc>
            </a:pPr>
            <a:r>
              <a:rPr sz="1300" b="1">
                <a:solidFill>
                  <a:srgbClr val="E8EDF7"/>
                </a:solidFill>
                <a:latin typeface="Segoe UI"/>
              </a:rPr>
              <a:t>4</a:t>
            </a:r>
          </a:p>
        </p:txBody>
      </p:sp>
      <p:sp>
        <p:nvSpPr>
          <p:cNvPr id="18" name="TextBox 17"/>
          <p:cNvSpPr txBox="1"/>
          <p:nvPr/>
        </p:nvSpPr>
        <p:spPr>
          <a:xfrm>
            <a:off x="1344168" y="4005072"/>
            <a:ext cx="2194560" cy="365760"/>
          </a:xfrm>
          <a:prstGeom prst="rect">
            <a:avLst/>
          </a:prstGeom>
          <a:noFill/>
        </p:spPr>
        <p:txBody>
          <a:bodyPr wrap="square" anchor="t" lIns="0" rIns="0" tIns="0" bIns="0">
            <a:spAutoFit/>
          </a:bodyPr>
          <a:lstStyle/>
          <a:p>
            <a:pPr algn="l">
              <a:lnSpc>
                <a:spcPct val="100000"/>
              </a:lnSpc>
            </a:pPr>
            <a:r>
              <a:rPr sz="1500" b="1">
                <a:solidFill>
                  <a:srgbClr val="1E242E"/>
                </a:solidFill>
                <a:latin typeface="Segoe UI"/>
              </a:rPr>
              <a:t>Decide</a:t>
            </a:r>
          </a:p>
        </p:txBody>
      </p:sp>
      <p:sp>
        <p:nvSpPr>
          <p:cNvPr id="19" name="TextBox 18"/>
          <p:cNvSpPr txBox="1"/>
          <p:nvPr/>
        </p:nvSpPr>
        <p:spPr>
          <a:xfrm>
            <a:off x="3611880" y="4032504"/>
            <a:ext cx="7680960" cy="365760"/>
          </a:xfrm>
          <a:prstGeom prst="rect">
            <a:avLst/>
          </a:prstGeom>
          <a:noFill/>
        </p:spPr>
        <p:txBody>
          <a:bodyPr wrap="square" anchor="t" lIns="0" rIns="0" tIns="0" bIns="0">
            <a:spAutoFit/>
          </a:bodyPr>
          <a:lstStyle/>
          <a:p>
            <a:pPr algn="l">
              <a:lnSpc>
                <a:spcPct val="100000"/>
              </a:lnSpc>
            </a:pPr>
            <a:r>
              <a:rPr sz="1300" b="0">
                <a:solidFill>
                  <a:srgbClr val="5A6372"/>
                </a:solidFill>
                <a:latin typeface="Segoe UI"/>
              </a:rPr>
              <a:t>Which provider, which platforms, what does it cost, is it worth it?</a:t>
            </a:r>
          </a:p>
        </p:txBody>
      </p:sp>
      <p:sp>
        <p:nvSpPr>
          <p:cNvPr id="20" name="Rounded Rectangle 19"/>
          <p:cNvSpPr/>
          <p:nvPr/>
        </p:nvSpPr>
        <p:spPr>
          <a:xfrm>
            <a:off x="777240" y="4553712"/>
            <a:ext cx="384048" cy="384048"/>
          </a:xfrm>
          <a:prstGeom prst="roundRect">
            <a:avLst/>
          </a:prstGeom>
          <a:solidFill>
            <a:srgbClr val="7A5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626864"/>
            <a:ext cx="384048" cy="274320"/>
          </a:xfrm>
          <a:prstGeom prst="rect">
            <a:avLst/>
          </a:prstGeom>
          <a:noFill/>
        </p:spPr>
        <p:txBody>
          <a:bodyPr wrap="square" anchor="t" lIns="0" rIns="0" tIns="0" bIns="0">
            <a:spAutoFit/>
          </a:bodyPr>
          <a:lstStyle/>
          <a:p>
            <a:pPr algn="ctr">
              <a:lnSpc>
                <a:spcPct val="100000"/>
              </a:lnSpc>
            </a:pPr>
            <a:r>
              <a:rPr sz="1300" b="1">
                <a:solidFill>
                  <a:srgbClr val="E8EDF7"/>
                </a:solidFill>
                <a:latin typeface="Segoe UI"/>
              </a:rPr>
              <a:t>5</a:t>
            </a:r>
          </a:p>
        </p:txBody>
      </p:sp>
      <p:sp>
        <p:nvSpPr>
          <p:cNvPr id="22" name="TextBox 21"/>
          <p:cNvSpPr txBox="1"/>
          <p:nvPr/>
        </p:nvSpPr>
        <p:spPr>
          <a:xfrm>
            <a:off x="1344168" y="4572000"/>
            <a:ext cx="2194560" cy="365760"/>
          </a:xfrm>
          <a:prstGeom prst="rect">
            <a:avLst/>
          </a:prstGeom>
          <a:noFill/>
        </p:spPr>
        <p:txBody>
          <a:bodyPr wrap="square" anchor="t" lIns="0" rIns="0" tIns="0" bIns="0">
            <a:spAutoFit/>
          </a:bodyPr>
          <a:lstStyle/>
          <a:p>
            <a:pPr algn="l">
              <a:lnSpc>
                <a:spcPct val="100000"/>
              </a:lnSpc>
            </a:pPr>
            <a:r>
              <a:rPr sz="1500" b="1">
                <a:solidFill>
                  <a:srgbClr val="1E242E"/>
                </a:solidFill>
                <a:latin typeface="Segoe UI"/>
              </a:rPr>
              <a:t>Plan</a:t>
            </a:r>
          </a:p>
        </p:txBody>
      </p:sp>
      <p:sp>
        <p:nvSpPr>
          <p:cNvPr id="23" name="TextBox 22"/>
          <p:cNvSpPr txBox="1"/>
          <p:nvPr/>
        </p:nvSpPr>
        <p:spPr>
          <a:xfrm>
            <a:off x="3611880" y="4599432"/>
            <a:ext cx="7680960" cy="365760"/>
          </a:xfrm>
          <a:prstGeom prst="rect">
            <a:avLst/>
          </a:prstGeom>
          <a:noFill/>
        </p:spPr>
        <p:txBody>
          <a:bodyPr wrap="square" anchor="t" lIns="0" rIns="0" tIns="0" bIns="0">
            <a:spAutoFit/>
          </a:bodyPr>
          <a:lstStyle/>
          <a:p>
            <a:pPr algn="l">
              <a:lnSpc>
                <a:spcPct val="100000"/>
              </a:lnSpc>
            </a:pPr>
            <a:r>
              <a:rPr sz="1300" b="0">
                <a:solidFill>
                  <a:srgbClr val="5A6372"/>
                </a:solidFill>
                <a:latin typeface="Segoe UI"/>
              </a:rPr>
              <a:t>How long, what constrains it, how confident should we be?</a:t>
            </a:r>
          </a:p>
        </p:txBody>
      </p:sp>
      <p:sp>
        <p:nvSpPr>
          <p:cNvPr id="24" name="Rounded Rectangle 23"/>
          <p:cNvSpPr/>
          <p:nvPr/>
        </p:nvSpPr>
        <p:spPr>
          <a:xfrm>
            <a:off x="777240" y="5120640"/>
            <a:ext cx="384048" cy="384048"/>
          </a:xfrm>
          <a:prstGeom prst="roundRect">
            <a:avLst/>
          </a:prstGeom>
          <a:solidFill>
            <a:srgbClr val="7A5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193792"/>
            <a:ext cx="384048" cy="274320"/>
          </a:xfrm>
          <a:prstGeom prst="rect">
            <a:avLst/>
          </a:prstGeom>
          <a:noFill/>
        </p:spPr>
        <p:txBody>
          <a:bodyPr wrap="square" anchor="t" lIns="0" rIns="0" tIns="0" bIns="0">
            <a:spAutoFit/>
          </a:bodyPr>
          <a:lstStyle/>
          <a:p>
            <a:pPr algn="ctr">
              <a:lnSpc>
                <a:spcPct val="100000"/>
              </a:lnSpc>
            </a:pPr>
            <a:r>
              <a:rPr sz="1300" b="1">
                <a:solidFill>
                  <a:srgbClr val="E8EDF7"/>
                </a:solidFill>
                <a:latin typeface="Segoe UI"/>
              </a:rPr>
              <a:t>6</a:t>
            </a:r>
          </a:p>
        </p:txBody>
      </p:sp>
      <p:sp>
        <p:nvSpPr>
          <p:cNvPr id="26" name="TextBox 25"/>
          <p:cNvSpPr txBox="1"/>
          <p:nvPr/>
        </p:nvSpPr>
        <p:spPr>
          <a:xfrm>
            <a:off x="1344168" y="5138928"/>
            <a:ext cx="2194560" cy="365760"/>
          </a:xfrm>
          <a:prstGeom prst="rect">
            <a:avLst/>
          </a:prstGeom>
          <a:noFill/>
        </p:spPr>
        <p:txBody>
          <a:bodyPr wrap="square" anchor="t" lIns="0" rIns="0" tIns="0" bIns="0">
            <a:spAutoFit/>
          </a:bodyPr>
          <a:lstStyle/>
          <a:p>
            <a:pPr algn="l">
              <a:lnSpc>
                <a:spcPct val="100000"/>
              </a:lnSpc>
            </a:pPr>
            <a:r>
              <a:rPr sz="1500" b="1">
                <a:solidFill>
                  <a:srgbClr val="1E242E"/>
                </a:solidFill>
                <a:latin typeface="Segoe UI"/>
              </a:rPr>
              <a:t>Execute</a:t>
            </a:r>
          </a:p>
        </p:txBody>
      </p:sp>
      <p:sp>
        <p:nvSpPr>
          <p:cNvPr id="27" name="TextBox 26"/>
          <p:cNvSpPr txBox="1"/>
          <p:nvPr/>
        </p:nvSpPr>
        <p:spPr>
          <a:xfrm>
            <a:off x="3611880" y="5166360"/>
            <a:ext cx="7680960" cy="365760"/>
          </a:xfrm>
          <a:prstGeom prst="rect">
            <a:avLst/>
          </a:prstGeom>
          <a:noFill/>
        </p:spPr>
        <p:txBody>
          <a:bodyPr wrap="square" anchor="t" lIns="0" rIns="0" tIns="0" bIns="0">
            <a:spAutoFit/>
          </a:bodyPr>
          <a:lstStyle/>
          <a:p>
            <a:pPr algn="l">
              <a:lnSpc>
                <a:spcPct val="100000"/>
              </a:lnSpc>
            </a:pPr>
            <a:r>
              <a:rPr sz="1300" b="0">
                <a:solidFill>
                  <a:srgbClr val="5A6372"/>
                </a:solidFill>
                <a:latin typeface="Segoe UI"/>
              </a:rPr>
              <a:t>How does the tooling behave, and what else must you buy?</a:t>
            </a:r>
          </a:p>
        </p:txBody>
      </p:sp>
      <p:sp>
        <p:nvSpPr>
          <p:cNvPr id="28" name="Rounded Rectangle 27"/>
          <p:cNvSpPr/>
          <p:nvPr/>
        </p:nvSpPr>
        <p:spPr>
          <a:xfrm>
            <a:off x="777240" y="5687568"/>
            <a:ext cx="384048" cy="384048"/>
          </a:xfrm>
          <a:prstGeom prst="roundRect">
            <a:avLst/>
          </a:prstGeom>
          <a:solidFill>
            <a:srgbClr val="7A5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760720"/>
            <a:ext cx="384048" cy="274320"/>
          </a:xfrm>
          <a:prstGeom prst="rect">
            <a:avLst/>
          </a:prstGeom>
          <a:noFill/>
        </p:spPr>
        <p:txBody>
          <a:bodyPr wrap="square" anchor="t" lIns="0" rIns="0" tIns="0" bIns="0">
            <a:spAutoFit/>
          </a:bodyPr>
          <a:lstStyle/>
          <a:p>
            <a:pPr algn="ctr">
              <a:lnSpc>
                <a:spcPct val="100000"/>
              </a:lnSpc>
            </a:pPr>
            <a:r>
              <a:rPr sz="1300" b="1">
                <a:solidFill>
                  <a:srgbClr val="E8EDF7"/>
                </a:solidFill>
                <a:latin typeface="Segoe UI"/>
              </a:rPr>
              <a:t>7</a:t>
            </a:r>
          </a:p>
        </p:txBody>
      </p:sp>
      <p:sp>
        <p:nvSpPr>
          <p:cNvPr id="30" name="TextBox 29"/>
          <p:cNvSpPr txBox="1"/>
          <p:nvPr/>
        </p:nvSpPr>
        <p:spPr>
          <a:xfrm>
            <a:off x="1344168" y="5705856"/>
            <a:ext cx="2194560" cy="365760"/>
          </a:xfrm>
          <a:prstGeom prst="rect">
            <a:avLst/>
          </a:prstGeom>
          <a:noFill/>
        </p:spPr>
        <p:txBody>
          <a:bodyPr wrap="square" anchor="t" lIns="0" rIns="0" tIns="0" bIns="0">
            <a:spAutoFit/>
          </a:bodyPr>
          <a:lstStyle/>
          <a:p>
            <a:pPr algn="l">
              <a:lnSpc>
                <a:spcPct val="100000"/>
              </a:lnSpc>
            </a:pPr>
            <a:r>
              <a:rPr sz="1500" b="1">
                <a:solidFill>
                  <a:srgbClr val="1E242E"/>
                </a:solidFill>
                <a:latin typeface="Segoe UI"/>
              </a:rPr>
              <a:t>Communicate</a:t>
            </a:r>
          </a:p>
        </p:txBody>
      </p:sp>
      <p:sp>
        <p:nvSpPr>
          <p:cNvPr id="31" name="TextBox 30"/>
          <p:cNvSpPr txBox="1"/>
          <p:nvPr/>
        </p:nvSpPr>
        <p:spPr>
          <a:xfrm>
            <a:off x="3611880" y="5733288"/>
            <a:ext cx="7680960" cy="365760"/>
          </a:xfrm>
          <a:prstGeom prst="rect">
            <a:avLst/>
          </a:prstGeom>
          <a:noFill/>
        </p:spPr>
        <p:txBody>
          <a:bodyPr wrap="square" anchor="t" lIns="0" rIns="0" tIns="0" bIns="0">
            <a:spAutoFit/>
          </a:bodyPr>
          <a:lstStyle/>
          <a:p>
            <a:pPr algn="l">
              <a:lnSpc>
                <a:spcPct val="100000"/>
              </a:lnSpc>
            </a:pPr>
            <a:r>
              <a:rPr sz="1300" b="0">
                <a:solidFill>
                  <a:srgbClr val="5A6372"/>
                </a:solidFill>
                <a:latin typeface="Segoe UI"/>
              </a:rPr>
              <a:t>Turning the model into deliverables.</a:t>
            </a:r>
          </a:p>
        </p:txBody>
      </p:sp>
      <p:sp>
        <p:nvSpPr>
          <p:cNvPr id="32" name="TextBox 31"/>
          <p:cNvSpPr txBox="1"/>
          <p:nvPr/>
        </p:nvSpPr>
        <p:spPr>
          <a:xfrm>
            <a:off x="777240" y="6355080"/>
            <a:ext cx="5486400" cy="274320"/>
          </a:xfrm>
          <a:prstGeom prst="rect">
            <a:avLst/>
          </a:prstGeom>
          <a:noFill/>
        </p:spPr>
        <p:txBody>
          <a:bodyPr wrap="square" anchor="t" lIns="0" rIns="0" tIns="0" bIns="0">
            <a:spAutoFit/>
          </a:bodyPr>
          <a:lstStyle/>
          <a:p>
            <a:pPr algn="l">
              <a:lnSpc>
                <a:spcPct val="100000"/>
              </a:lnSpc>
            </a:pPr>
            <a:r>
              <a:rPr sz="900" b="0">
                <a:solidFill>
                  <a:srgbClr val="5A6372"/>
                </a:solidFill>
                <a:latin typeface="Segoe UI"/>
              </a:rPr>
              <a:t>CISCLD Ascend  ·  onpremtocloud.streamlit.app</a:t>
            </a:r>
          </a:p>
        </p:txBody>
      </p:sp>
      <p:sp>
        <p:nvSpPr>
          <p:cNvPr id="33" name="TextBox 32"/>
          <p:cNvSpPr txBox="1"/>
          <p:nvPr/>
        </p:nvSpPr>
        <p:spPr>
          <a:xfrm>
            <a:off x="10500055" y="6355080"/>
            <a:ext cx="914400" cy="274320"/>
          </a:xfrm>
          <a:prstGeom prst="rect">
            <a:avLst/>
          </a:prstGeom>
          <a:noFill/>
        </p:spPr>
        <p:txBody>
          <a:bodyPr wrap="square" anchor="t" lIns="0" rIns="0" tIns="0" bIns="0">
            <a:spAutoFit/>
          </a:bodyPr>
          <a:lstStyle/>
          <a:p>
            <a:pPr algn="r">
              <a:lnSpc>
                <a:spcPct val="100000"/>
              </a:lnSpc>
            </a:pPr>
            <a:r>
              <a:rPr sz="900" b="0">
                <a:solidFill>
                  <a:srgbClr val="5A6372"/>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nchor="t" lIns="0" rIns="0" tIns="0" bIns="0">
            <a:spAutoFit/>
          </a:bodyPr>
          <a:lstStyle/>
          <a:p>
            <a:pPr algn="l">
              <a:lnSpc>
                <a:spcPct val="100000"/>
              </a:lnSpc>
            </a:pPr>
            <a:r>
              <a:rPr sz="1100" b="1">
                <a:solidFill>
                  <a:srgbClr val="3B6FD4"/>
                </a:solidFill>
                <a:latin typeface="Segoe UI"/>
              </a:rPr>
              <a:t>THE PICTURE THE ROOM ASKS FOR</a:t>
            </a:r>
          </a:p>
        </p:txBody>
      </p:sp>
      <p:sp>
        <p:nvSpPr>
          <p:cNvPr id="3" name="TextBox 2"/>
          <p:cNvSpPr txBox="1"/>
          <p:nvPr/>
        </p:nvSpPr>
        <p:spPr>
          <a:xfrm>
            <a:off x="777240" y="932688"/>
            <a:ext cx="10637215" cy="777240"/>
          </a:xfrm>
          <a:prstGeom prst="rect">
            <a:avLst/>
          </a:prstGeom>
          <a:noFill/>
        </p:spPr>
        <p:txBody>
          <a:bodyPr wrap="square" anchor="t" lIns="0" rIns="0" tIns="0" bIns="0">
            <a:spAutoFit/>
          </a:bodyPr>
          <a:lstStyle/>
          <a:p>
            <a:pPr algn="l">
              <a:lnSpc>
                <a:spcPct val="100000"/>
              </a:lnSpc>
            </a:pPr>
            <a:r>
              <a:rPr sz="3200" b="1">
                <a:solidFill>
                  <a:srgbClr val="1E242E"/>
                </a:solidFill>
                <a:latin typeface="Segoe UI"/>
              </a:rPr>
              <a:t>Current state and future state, from the same model</a:t>
            </a:r>
          </a:p>
        </p:txBody>
      </p:sp>
      <p:sp>
        <p:nvSpPr>
          <p:cNvPr id="4" name="TextBox 3"/>
          <p:cNvSpPr txBox="1"/>
          <p:nvPr/>
        </p:nvSpPr>
        <p:spPr>
          <a:xfrm>
            <a:off x="777240" y="1700784"/>
            <a:ext cx="8778240" cy="640080"/>
          </a:xfrm>
          <a:prstGeom prst="rect">
            <a:avLst/>
          </a:prstGeom>
          <a:noFill/>
        </p:spPr>
        <p:txBody>
          <a:bodyPr wrap="square" anchor="t" lIns="0" rIns="0" tIns="0" bIns="0">
            <a:spAutoFit/>
          </a:bodyPr>
          <a:lstStyle/>
          <a:p>
            <a:pPr algn="l">
              <a:lnSpc>
                <a:spcPct val="125000"/>
              </a:lnSpc>
            </a:pPr>
            <a:r>
              <a:rPr sz="1400" b="0">
                <a:solidFill>
                  <a:srgbClr val="5A6372"/>
                </a:solidFill>
                <a:latin typeface="Segoe UI"/>
              </a:rPr>
              <a:t>Not a drawing. Every line is a quantity the model computed, and it moves when an assumption moves.</a:t>
            </a:r>
          </a:p>
        </p:txBody>
      </p:sp>
      <p:sp>
        <p:nvSpPr>
          <p:cNvPr id="5" name="Rounded Rectangle 4"/>
          <p:cNvSpPr/>
          <p:nvPr/>
        </p:nvSpPr>
        <p:spPr>
          <a:xfrm>
            <a:off x="777240" y="2697480"/>
            <a:ext cx="5090007" cy="2743200"/>
          </a:xfrm>
          <a:prstGeom prst="round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697480"/>
            <a:ext cx="5090007" cy="50292"/>
          </a:xfrm>
          <a:prstGeom prst="rect">
            <a:avLst/>
          </a:prstGeom>
          <a:solidFill>
            <a:srgbClr val="C44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3008376"/>
            <a:ext cx="4504791" cy="2157984"/>
          </a:xfrm>
          <a:prstGeom prst="rect">
            <a:avLst/>
          </a:prstGeom>
          <a:noFill/>
        </p:spPr>
        <p:txBody>
          <a:bodyPr wrap="square" anchor="t" lIns="0" rIns="0" tIns="0" bIns="0">
            <a:spAutoFit/>
          </a:bodyPr>
          <a:lstStyle/>
          <a:p>
            <a:pPr algn="l">
              <a:lnSpc>
                <a:spcPct val="122000"/>
              </a:lnSpc>
              <a:spcAft>
                <a:spcPts val="700"/>
              </a:spcAft>
            </a:pPr>
            <a:r>
              <a:rPr sz="1400" b="1">
                <a:solidFill>
                  <a:srgbClr val="1E242E"/>
                </a:solidFill>
                <a:latin typeface="Segoe UI"/>
              </a:rPr>
              <a:t>Current state — VMware vSphere</a:t>
            </a:r>
          </a:p>
          <a:p>
            <a:pPr algn="l">
              <a:lnSpc>
                <a:spcPct val="122000"/>
              </a:lnSpc>
            </a:pPr>
            <a:r>
              <a:rPr sz="1150" b="0">
                <a:solidFill>
                  <a:srgbClr val="5A6372"/>
                </a:solidFill>
                <a:latin typeface="Segoe UI"/>
              </a:rPr>
              <a:t>Clusters, hosts, datastores, virtual machines, Windows and Linux split, end-of-life guest operating systems, allocated vCPU and RAM, provisioned storage, and the host count the cost model derives from them.</a:t>
            </a:r>
          </a:p>
        </p:txBody>
      </p:sp>
      <p:sp>
        <p:nvSpPr>
          <p:cNvPr id="8" name="Rounded Rectangle 7"/>
          <p:cNvSpPr/>
          <p:nvPr/>
        </p:nvSpPr>
        <p:spPr>
          <a:xfrm>
            <a:off x="6324447" y="2697480"/>
            <a:ext cx="5090007" cy="2743200"/>
          </a:xfrm>
          <a:prstGeom prst="round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24447" y="2697480"/>
            <a:ext cx="5090007" cy="50292"/>
          </a:xfrm>
          <a:prstGeom prst="rect">
            <a:avLst/>
          </a:prstGeom>
          <a:solidFill>
            <a:srgbClr val="2F9E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7055" y="3008376"/>
            <a:ext cx="4504791" cy="2157984"/>
          </a:xfrm>
          <a:prstGeom prst="rect">
            <a:avLst/>
          </a:prstGeom>
          <a:noFill/>
        </p:spPr>
        <p:txBody>
          <a:bodyPr wrap="square" anchor="t" lIns="0" rIns="0" tIns="0" bIns="0">
            <a:spAutoFit/>
          </a:bodyPr>
          <a:lstStyle/>
          <a:p>
            <a:pPr algn="l">
              <a:lnSpc>
                <a:spcPct val="122000"/>
              </a:lnSpc>
              <a:spcAft>
                <a:spcPts val="700"/>
              </a:spcAft>
            </a:pPr>
            <a:r>
              <a:rPr sz="1400" b="1">
                <a:solidFill>
                  <a:srgbClr val="1E242E"/>
                </a:solidFill>
                <a:latin typeface="Segoe UI"/>
              </a:rPr>
              <a:t>Future state — Azure</a:t>
            </a:r>
          </a:p>
          <a:p>
            <a:pPr algn="l">
              <a:lnSpc>
                <a:spcPct val="122000"/>
              </a:lnSpc>
            </a:pPr>
            <a:r>
              <a:rPr sz="1150" b="0">
                <a:solidFill>
                  <a:srgbClr val="5A6372"/>
                </a:solidFill>
                <a:latin typeface="Segoe UI"/>
              </a:rPr>
              <a:t>Azure VMs and their SKU families, managed-service targets, Azure VMware Solution, workloads retired rather than migrated, right-sized vCPU, disk tiering, run rate, programme cost, waves and elapsed months.</a:t>
            </a:r>
          </a:p>
        </p:txBody>
      </p:sp>
      <p:sp>
        <p:nvSpPr>
          <p:cNvPr id="11" name="TextBox 10"/>
          <p:cNvSpPr txBox="1"/>
          <p:nvPr/>
        </p:nvSpPr>
        <p:spPr>
          <a:xfrm>
            <a:off x="777240" y="5669280"/>
            <a:ext cx="10637215" cy="457200"/>
          </a:xfrm>
          <a:prstGeom prst="rect">
            <a:avLst/>
          </a:prstGeom>
          <a:noFill/>
        </p:spPr>
        <p:txBody>
          <a:bodyPr wrap="square" anchor="t" lIns="0" rIns="0" tIns="0" bIns="0">
            <a:spAutoFit/>
          </a:bodyPr>
          <a:lstStyle/>
          <a:p>
            <a:pPr algn="l">
              <a:lnSpc>
                <a:spcPct val="100000"/>
              </a:lnSpc>
            </a:pPr>
            <a:r>
              <a:rPr sz="1300" b="1">
                <a:solidFill>
                  <a:srgbClr val="1E242E"/>
                </a:solidFill>
                <a:latin typeface="Segoe UI"/>
              </a:rPr>
              <a:t>A flow diagram then carries every VM from its workload tier, through its 7R disposition, to the Azure service it lands on.</a:t>
            </a:r>
          </a:p>
        </p:txBody>
      </p:sp>
      <p:sp>
        <p:nvSpPr>
          <p:cNvPr id="12" name="TextBox 11"/>
          <p:cNvSpPr txBox="1"/>
          <p:nvPr/>
        </p:nvSpPr>
        <p:spPr>
          <a:xfrm>
            <a:off x="777240" y="6355080"/>
            <a:ext cx="5486400" cy="274320"/>
          </a:xfrm>
          <a:prstGeom prst="rect">
            <a:avLst/>
          </a:prstGeom>
          <a:noFill/>
        </p:spPr>
        <p:txBody>
          <a:bodyPr wrap="square" anchor="t" lIns="0" rIns="0" tIns="0" bIns="0">
            <a:spAutoFit/>
          </a:bodyPr>
          <a:lstStyle/>
          <a:p>
            <a:pPr algn="l">
              <a:lnSpc>
                <a:spcPct val="100000"/>
              </a:lnSpc>
            </a:pPr>
            <a:r>
              <a:rPr sz="900" b="0">
                <a:solidFill>
                  <a:srgbClr val="5A6372"/>
                </a:solidFill>
                <a:latin typeface="Segoe UI"/>
              </a:rPr>
              <a:t>CISCLD Ascend  ·  onpremtocloud.streamlit.app</a:t>
            </a:r>
          </a:p>
        </p:txBody>
      </p:sp>
      <p:sp>
        <p:nvSpPr>
          <p:cNvPr id="13" name="TextBox 12"/>
          <p:cNvSpPr txBox="1"/>
          <p:nvPr/>
        </p:nvSpPr>
        <p:spPr>
          <a:xfrm>
            <a:off x="10500055" y="6355080"/>
            <a:ext cx="914400" cy="274320"/>
          </a:xfrm>
          <a:prstGeom prst="rect">
            <a:avLst/>
          </a:prstGeom>
          <a:noFill/>
        </p:spPr>
        <p:txBody>
          <a:bodyPr wrap="square" anchor="t" lIns="0" rIns="0" tIns="0" bIns="0">
            <a:spAutoFit/>
          </a:bodyPr>
          <a:lstStyle/>
          <a:p>
            <a:pPr algn="r">
              <a:lnSpc>
                <a:spcPct val="100000"/>
              </a:lnSpc>
            </a:pPr>
            <a:r>
              <a:rPr sz="900" b="0">
                <a:solidFill>
                  <a:srgbClr val="5A6372"/>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nchor="t" lIns="0" rIns="0" tIns="0" bIns="0">
            <a:spAutoFit/>
          </a:bodyPr>
          <a:lstStyle/>
          <a:p>
            <a:pPr algn="l">
              <a:lnSpc>
                <a:spcPct val="100000"/>
              </a:lnSpc>
            </a:pPr>
            <a:r>
              <a:rPr sz="1100" b="1">
                <a:solidFill>
                  <a:srgbClr val="3B6FD4"/>
                </a:solidFill>
                <a:latin typeface="Segoe UI"/>
              </a:rPr>
              <a:t>ACCESS AND DATA HANDLING</a:t>
            </a:r>
          </a:p>
        </p:txBody>
      </p:sp>
      <p:sp>
        <p:nvSpPr>
          <p:cNvPr id="3" name="TextBox 2"/>
          <p:cNvSpPr txBox="1"/>
          <p:nvPr/>
        </p:nvSpPr>
        <p:spPr>
          <a:xfrm>
            <a:off x="777240" y="932688"/>
            <a:ext cx="10637215" cy="777240"/>
          </a:xfrm>
          <a:prstGeom prst="rect">
            <a:avLst/>
          </a:prstGeom>
          <a:noFill/>
        </p:spPr>
        <p:txBody>
          <a:bodyPr wrap="square" anchor="t" lIns="0" rIns="0" tIns="0" bIns="0">
            <a:spAutoFit/>
          </a:bodyPr>
          <a:lstStyle/>
          <a:p>
            <a:pPr algn="l">
              <a:lnSpc>
                <a:spcPct val="100000"/>
              </a:lnSpc>
            </a:pPr>
            <a:r>
              <a:rPr sz="3200" b="1">
                <a:solidFill>
                  <a:srgbClr val="1E242E"/>
                </a:solidFill>
                <a:latin typeface="Segoe UI"/>
              </a:rPr>
              <a:t>Signed in, and nothing kept</a:t>
            </a:r>
          </a:p>
        </p:txBody>
      </p:sp>
      <p:sp>
        <p:nvSpPr>
          <p:cNvPr id="4" name="Rectangle 3"/>
          <p:cNvSpPr/>
          <p:nvPr/>
        </p:nvSpPr>
        <p:spPr>
          <a:xfrm>
            <a:off x="777240" y="2368296"/>
            <a:ext cx="45720" cy="201168"/>
          </a:xfrm>
          <a:prstGeom prst="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6696" y="2286000"/>
            <a:ext cx="10417759" cy="868680"/>
          </a:xfrm>
          <a:prstGeom prst="rect">
            <a:avLst/>
          </a:prstGeom>
          <a:noFill/>
        </p:spPr>
        <p:txBody>
          <a:bodyPr wrap="square" anchor="t" lIns="0" rIns="0" tIns="0" bIns="0">
            <a:spAutoFit/>
          </a:bodyPr>
          <a:lstStyle/>
          <a:p>
            <a:pPr algn="l">
              <a:lnSpc>
                <a:spcPct val="122000"/>
              </a:lnSpc>
              <a:spcAft>
                <a:spcPts val="500"/>
              </a:spcAft>
            </a:pPr>
            <a:r>
              <a:rPr sz="1350" b="1">
                <a:solidFill>
                  <a:srgbClr val="1E242E"/>
                </a:solidFill>
                <a:latin typeface="Segoe UI"/>
              </a:rPr>
              <a:t>Accounts are issued per engagement</a:t>
            </a:r>
          </a:p>
          <a:p>
            <a:pPr algn="l">
              <a:lnSpc>
                <a:spcPct val="122000"/>
              </a:lnSpc>
            </a:pPr>
            <a:r>
              <a:rPr sz="1150" b="0">
                <a:solidFill>
                  <a:srgbClr val="5A6372"/>
                </a:solidFill>
                <a:latin typeface="Segoe UI"/>
              </a:rPr>
              <a:t>PBKDF2-HMAC-SHA256 at 240,000 iterations with a per-account salt. Sessions expire after eight idle hours.</a:t>
            </a:r>
          </a:p>
        </p:txBody>
      </p:sp>
      <p:sp>
        <p:nvSpPr>
          <p:cNvPr id="6" name="Rectangle 5"/>
          <p:cNvSpPr/>
          <p:nvPr/>
        </p:nvSpPr>
        <p:spPr>
          <a:xfrm>
            <a:off x="777240" y="3236976"/>
            <a:ext cx="45720" cy="201168"/>
          </a:xfrm>
          <a:prstGeom prst="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 y="3154680"/>
            <a:ext cx="10417759" cy="868680"/>
          </a:xfrm>
          <a:prstGeom prst="rect">
            <a:avLst/>
          </a:prstGeom>
          <a:noFill/>
        </p:spPr>
        <p:txBody>
          <a:bodyPr wrap="square" anchor="t" lIns="0" rIns="0" tIns="0" bIns="0">
            <a:spAutoFit/>
          </a:bodyPr>
          <a:lstStyle/>
          <a:p>
            <a:pPr algn="l">
              <a:lnSpc>
                <a:spcPct val="122000"/>
              </a:lnSpc>
              <a:spcAft>
                <a:spcPts val="500"/>
              </a:spcAft>
            </a:pPr>
            <a:r>
              <a:rPr sz="1350" b="1">
                <a:solidFill>
                  <a:srgbClr val="1E242E"/>
                </a:solidFill>
                <a:latin typeface="Segoe UI"/>
              </a:rPr>
              <a:t>Your inventory stays in the session</a:t>
            </a:r>
          </a:p>
          <a:p>
            <a:pPr algn="l">
              <a:lnSpc>
                <a:spcPct val="122000"/>
              </a:lnSpc>
            </a:pPr>
            <a:r>
              <a:rPr sz="1150" b="0">
                <a:solidFill>
                  <a:srgbClr val="5A6372"/>
                </a:solidFill>
                <a:latin typeface="Segoe UI"/>
              </a:rPr>
              <a:t>The uploaded file is held for the life of the browser session and written nowhere. Closing the tab discards it.</a:t>
            </a:r>
          </a:p>
        </p:txBody>
      </p:sp>
      <p:sp>
        <p:nvSpPr>
          <p:cNvPr id="8" name="Rectangle 7"/>
          <p:cNvSpPr/>
          <p:nvPr/>
        </p:nvSpPr>
        <p:spPr>
          <a:xfrm>
            <a:off x="777240" y="4105656"/>
            <a:ext cx="45720" cy="201168"/>
          </a:xfrm>
          <a:prstGeom prst="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4023360"/>
            <a:ext cx="10417759" cy="868680"/>
          </a:xfrm>
          <a:prstGeom prst="rect">
            <a:avLst/>
          </a:prstGeom>
          <a:noFill/>
        </p:spPr>
        <p:txBody>
          <a:bodyPr wrap="square" anchor="t" lIns="0" rIns="0" tIns="0" bIns="0">
            <a:spAutoFit/>
          </a:bodyPr>
          <a:lstStyle/>
          <a:p>
            <a:pPr algn="l">
              <a:lnSpc>
                <a:spcPct val="122000"/>
              </a:lnSpc>
              <a:spcAft>
                <a:spcPts val="500"/>
              </a:spcAft>
            </a:pPr>
            <a:r>
              <a:rPr sz="1350" b="1">
                <a:solidFill>
                  <a:srgbClr val="1E242E"/>
                </a:solidFill>
                <a:latin typeface="Segoe UI"/>
              </a:rPr>
              <a:t>Nothing is sent to a vendor</a:t>
            </a:r>
          </a:p>
          <a:p>
            <a:pPr algn="l">
              <a:lnSpc>
                <a:spcPct val="122000"/>
              </a:lnSpc>
            </a:pPr>
            <a:r>
              <a:rPr sz="1150" b="0">
                <a:solidFill>
                  <a:srgbClr val="5A6372"/>
                </a:solidFill>
                <a:latin typeface="Segoe UI"/>
              </a:rPr>
              <a:t>Pricing calls ask for public rate cards by region and SKU. No estate data leaves the application.</a:t>
            </a:r>
          </a:p>
        </p:txBody>
      </p:sp>
      <p:sp>
        <p:nvSpPr>
          <p:cNvPr id="10" name="Rectangle 9"/>
          <p:cNvSpPr/>
          <p:nvPr/>
        </p:nvSpPr>
        <p:spPr>
          <a:xfrm>
            <a:off x="777240" y="4974336"/>
            <a:ext cx="45720" cy="201168"/>
          </a:xfrm>
          <a:prstGeom prst="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4892040"/>
            <a:ext cx="10417759" cy="868680"/>
          </a:xfrm>
          <a:prstGeom prst="rect">
            <a:avLst/>
          </a:prstGeom>
          <a:noFill/>
        </p:spPr>
        <p:txBody>
          <a:bodyPr wrap="square" anchor="t" lIns="0" rIns="0" tIns="0" bIns="0">
            <a:spAutoFit/>
          </a:bodyPr>
          <a:lstStyle/>
          <a:p>
            <a:pPr algn="l">
              <a:lnSpc>
                <a:spcPct val="122000"/>
              </a:lnSpc>
              <a:spcAft>
                <a:spcPts val="500"/>
              </a:spcAft>
            </a:pPr>
            <a:r>
              <a:rPr sz="1350" b="1">
                <a:solidFill>
                  <a:srgbClr val="1E242E"/>
                </a:solidFill>
                <a:latin typeface="Segoe UI"/>
              </a:rPr>
              <a:t>Everything is exportable</a:t>
            </a:r>
          </a:p>
          <a:p>
            <a:pPr algn="l">
              <a:lnSpc>
                <a:spcPct val="122000"/>
              </a:lnSpc>
            </a:pPr>
            <a:r>
              <a:rPr sz="1150" b="0">
                <a:solidFill>
                  <a:srgbClr val="5A6372"/>
                </a:solidFill>
                <a:latin typeface="Segoe UI"/>
              </a:rPr>
              <a:t>Every table downloads as CSV, so the analysis can be reviewed in your own tooling rather than taken on trust.</a:t>
            </a:r>
          </a:p>
        </p:txBody>
      </p:sp>
      <p:sp>
        <p:nvSpPr>
          <p:cNvPr id="12" name="TextBox 11"/>
          <p:cNvSpPr txBox="1"/>
          <p:nvPr/>
        </p:nvSpPr>
        <p:spPr>
          <a:xfrm>
            <a:off x="777240" y="6355080"/>
            <a:ext cx="5486400" cy="274320"/>
          </a:xfrm>
          <a:prstGeom prst="rect">
            <a:avLst/>
          </a:prstGeom>
          <a:noFill/>
        </p:spPr>
        <p:txBody>
          <a:bodyPr wrap="square" anchor="t" lIns="0" rIns="0" tIns="0" bIns="0">
            <a:spAutoFit/>
          </a:bodyPr>
          <a:lstStyle/>
          <a:p>
            <a:pPr algn="l">
              <a:lnSpc>
                <a:spcPct val="100000"/>
              </a:lnSpc>
            </a:pPr>
            <a:r>
              <a:rPr sz="900" b="0">
                <a:solidFill>
                  <a:srgbClr val="5A6372"/>
                </a:solidFill>
                <a:latin typeface="Segoe UI"/>
              </a:rPr>
              <a:t>CISCLD Ascend  ·  onpremtocloud.streamlit.app</a:t>
            </a:r>
          </a:p>
        </p:txBody>
      </p:sp>
      <p:sp>
        <p:nvSpPr>
          <p:cNvPr id="13" name="TextBox 12"/>
          <p:cNvSpPr txBox="1"/>
          <p:nvPr/>
        </p:nvSpPr>
        <p:spPr>
          <a:xfrm>
            <a:off x="10500055" y="6355080"/>
            <a:ext cx="914400" cy="274320"/>
          </a:xfrm>
          <a:prstGeom prst="rect">
            <a:avLst/>
          </a:prstGeom>
          <a:noFill/>
        </p:spPr>
        <p:txBody>
          <a:bodyPr wrap="square" anchor="t" lIns="0" rIns="0" tIns="0" bIns="0">
            <a:spAutoFit/>
          </a:bodyPr>
          <a:lstStyle/>
          <a:p>
            <a:pPr algn="r">
              <a:lnSpc>
                <a:spcPct val="100000"/>
              </a:lnSpc>
            </a:pPr>
            <a:r>
              <a:rPr sz="900" b="0">
                <a:solidFill>
                  <a:srgbClr val="5A6372"/>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C17"/>
        </a:solidFill>
        <a:effectLst/>
      </p:bgPr>
    </p:bg>
    <p:spTree>
      <p:nvGrpSpPr>
        <p:cNvPr id="1" name=""/>
        <p:cNvGrpSpPr/>
        <p:nvPr/>
      </p:nvGrpSpPr>
      <p:grpSpPr/>
      <p:sp>
        <p:nvSpPr>
          <p:cNvPr id="2" name="Rectangle 1"/>
          <p:cNvSpPr/>
          <p:nvPr/>
        </p:nvSpPr>
        <p:spPr>
          <a:xfrm>
            <a:off x="0" y="0"/>
            <a:ext cx="5120511" cy="82296"/>
          </a:xfrm>
          <a:prstGeom prst="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120511" y="0"/>
            <a:ext cx="3413674" cy="82296"/>
          </a:xfrm>
          <a:prstGeom prst="rect">
            <a:avLst/>
          </a:prstGeom>
          <a:solidFill>
            <a:srgbClr val="7A5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914400"/>
            <a:ext cx="9144000" cy="365760"/>
          </a:xfrm>
          <a:prstGeom prst="rect">
            <a:avLst/>
          </a:prstGeom>
          <a:noFill/>
        </p:spPr>
        <p:txBody>
          <a:bodyPr wrap="square" anchor="t" lIns="0" rIns="0" tIns="0" bIns="0">
            <a:spAutoFit/>
          </a:bodyPr>
          <a:lstStyle/>
          <a:p>
            <a:pPr algn="l">
              <a:lnSpc>
                <a:spcPct val="100000"/>
              </a:lnSpc>
            </a:pPr>
            <a:r>
              <a:rPr sz="1300" b="1">
                <a:solidFill>
                  <a:srgbClr val="3B6FD4"/>
                </a:solidFill>
                <a:latin typeface="Consolas"/>
              </a:rPr>
              <a:t>NEXT</a:t>
            </a:r>
          </a:p>
        </p:txBody>
      </p:sp>
      <p:sp>
        <p:nvSpPr>
          <p:cNvPr id="5" name="TextBox 4"/>
          <p:cNvSpPr txBox="1"/>
          <p:nvPr/>
        </p:nvSpPr>
        <p:spPr>
          <a:xfrm>
            <a:off x="777240" y="1325880"/>
            <a:ext cx="10058400" cy="822960"/>
          </a:xfrm>
          <a:prstGeom prst="rect">
            <a:avLst/>
          </a:prstGeom>
          <a:noFill/>
        </p:spPr>
        <p:txBody>
          <a:bodyPr wrap="square" anchor="t" lIns="0" rIns="0" tIns="0" bIns="0">
            <a:spAutoFit/>
          </a:bodyPr>
          <a:lstStyle/>
          <a:p>
            <a:pPr algn="l">
              <a:lnSpc>
                <a:spcPct val="100000"/>
              </a:lnSpc>
            </a:pPr>
            <a:r>
              <a:rPr sz="3800" b="1">
                <a:solidFill>
                  <a:srgbClr val="E8EDF7"/>
                </a:solidFill>
                <a:latin typeface="Segoe UI"/>
              </a:rPr>
              <a:t>What we need, and what you get back</a:t>
            </a:r>
          </a:p>
        </p:txBody>
      </p:sp>
      <p:sp>
        <p:nvSpPr>
          <p:cNvPr id="6" name="Rounded Rectangle 5"/>
          <p:cNvSpPr/>
          <p:nvPr/>
        </p:nvSpPr>
        <p:spPr>
          <a:xfrm>
            <a:off x="777240" y="2697480"/>
            <a:ext cx="475488" cy="475488"/>
          </a:xfrm>
          <a:prstGeom prst="round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798064"/>
            <a:ext cx="475488" cy="320040"/>
          </a:xfrm>
          <a:prstGeom prst="rect">
            <a:avLst/>
          </a:prstGeom>
          <a:noFill/>
        </p:spPr>
        <p:txBody>
          <a:bodyPr wrap="square" anchor="t" lIns="0" rIns="0" tIns="0" bIns="0">
            <a:spAutoFit/>
          </a:bodyPr>
          <a:lstStyle/>
          <a:p>
            <a:pPr algn="ctr">
              <a:lnSpc>
                <a:spcPct val="100000"/>
              </a:lnSpc>
            </a:pPr>
            <a:r>
              <a:rPr sz="1500" b="1">
                <a:solidFill>
                  <a:srgbClr val="E8EDF7"/>
                </a:solidFill>
                <a:latin typeface="Segoe UI"/>
              </a:rPr>
              <a:t>1</a:t>
            </a:r>
          </a:p>
        </p:txBody>
      </p:sp>
      <p:sp>
        <p:nvSpPr>
          <p:cNvPr id="8" name="TextBox 7"/>
          <p:cNvSpPr txBox="1"/>
          <p:nvPr/>
        </p:nvSpPr>
        <p:spPr>
          <a:xfrm>
            <a:off x="1490472" y="2697480"/>
            <a:ext cx="3200400" cy="365760"/>
          </a:xfrm>
          <a:prstGeom prst="rect">
            <a:avLst/>
          </a:prstGeom>
          <a:noFill/>
        </p:spPr>
        <p:txBody>
          <a:bodyPr wrap="square" anchor="t" lIns="0" rIns="0" tIns="0" bIns="0">
            <a:spAutoFit/>
          </a:bodyPr>
          <a:lstStyle/>
          <a:p>
            <a:pPr algn="l">
              <a:lnSpc>
                <a:spcPct val="100000"/>
              </a:lnSpc>
            </a:pPr>
            <a:r>
              <a:rPr sz="1600" b="1">
                <a:solidFill>
                  <a:srgbClr val="E8EDF7"/>
                </a:solidFill>
                <a:latin typeface="Segoe UI"/>
              </a:rPr>
              <a:t>An RVTools export</a:t>
            </a:r>
          </a:p>
        </p:txBody>
      </p:sp>
      <p:sp>
        <p:nvSpPr>
          <p:cNvPr id="9" name="TextBox 8"/>
          <p:cNvSpPr txBox="1"/>
          <p:nvPr/>
        </p:nvSpPr>
        <p:spPr>
          <a:xfrm>
            <a:off x="4892040" y="2724912"/>
            <a:ext cx="6766560" cy="640080"/>
          </a:xfrm>
          <a:prstGeom prst="rect">
            <a:avLst/>
          </a:prstGeom>
          <a:noFill/>
        </p:spPr>
        <p:txBody>
          <a:bodyPr wrap="square" anchor="t" lIns="0" rIns="0" tIns="0" bIns="0">
            <a:spAutoFit/>
          </a:bodyPr>
          <a:lstStyle/>
          <a:p>
            <a:pPr algn="l">
              <a:lnSpc>
                <a:spcPct val="120000"/>
              </a:lnSpc>
            </a:pPr>
            <a:r>
              <a:rPr sz="1300" b="0">
                <a:solidFill>
                  <a:srgbClr val="9FACC4"/>
                </a:solidFill>
                <a:latin typeface="Segoe UI"/>
              </a:rPr>
              <a:t>The vInfo sheet from your vCenter. One file.</a:t>
            </a:r>
          </a:p>
        </p:txBody>
      </p:sp>
      <p:sp>
        <p:nvSpPr>
          <p:cNvPr id="10" name="Rounded Rectangle 9"/>
          <p:cNvSpPr/>
          <p:nvPr/>
        </p:nvSpPr>
        <p:spPr>
          <a:xfrm>
            <a:off x="777240" y="3566160"/>
            <a:ext cx="475488" cy="475488"/>
          </a:xfrm>
          <a:prstGeom prst="roundRect">
            <a:avLst/>
          </a:prstGeom>
          <a:solidFill>
            <a:srgbClr val="3B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666744"/>
            <a:ext cx="475488" cy="320040"/>
          </a:xfrm>
          <a:prstGeom prst="rect">
            <a:avLst/>
          </a:prstGeom>
          <a:noFill/>
        </p:spPr>
        <p:txBody>
          <a:bodyPr wrap="square" anchor="t" lIns="0" rIns="0" tIns="0" bIns="0">
            <a:spAutoFit/>
          </a:bodyPr>
          <a:lstStyle/>
          <a:p>
            <a:pPr algn="ctr">
              <a:lnSpc>
                <a:spcPct val="100000"/>
              </a:lnSpc>
            </a:pPr>
            <a:r>
              <a:rPr sz="1500" b="1">
                <a:solidFill>
                  <a:srgbClr val="E8EDF7"/>
                </a:solidFill>
                <a:latin typeface="Segoe UI"/>
              </a:rPr>
              <a:t>2</a:t>
            </a:r>
          </a:p>
        </p:txBody>
      </p:sp>
      <p:sp>
        <p:nvSpPr>
          <p:cNvPr id="12" name="TextBox 11"/>
          <p:cNvSpPr txBox="1"/>
          <p:nvPr/>
        </p:nvSpPr>
        <p:spPr>
          <a:xfrm>
            <a:off x="1490472" y="3566160"/>
            <a:ext cx="3200400" cy="365760"/>
          </a:xfrm>
          <a:prstGeom prst="rect">
            <a:avLst/>
          </a:prstGeom>
          <a:noFill/>
        </p:spPr>
        <p:txBody>
          <a:bodyPr wrap="square" anchor="t" lIns="0" rIns="0" tIns="0" bIns="0">
            <a:spAutoFit/>
          </a:bodyPr>
          <a:lstStyle/>
          <a:p>
            <a:pPr algn="l">
              <a:lnSpc>
                <a:spcPct val="100000"/>
              </a:lnSpc>
            </a:pPr>
            <a:r>
              <a:rPr sz="1600" b="1">
                <a:solidFill>
                  <a:srgbClr val="E8EDF7"/>
                </a:solidFill>
                <a:latin typeface="Segoe UI"/>
              </a:rPr>
              <a:t>Your current platform cost</a:t>
            </a:r>
          </a:p>
        </p:txBody>
      </p:sp>
      <p:sp>
        <p:nvSpPr>
          <p:cNvPr id="13" name="TextBox 12"/>
          <p:cNvSpPr txBox="1"/>
          <p:nvPr/>
        </p:nvSpPr>
        <p:spPr>
          <a:xfrm>
            <a:off x="4892040" y="3593592"/>
            <a:ext cx="6766560" cy="640080"/>
          </a:xfrm>
          <a:prstGeom prst="rect">
            <a:avLst/>
          </a:prstGeom>
          <a:noFill/>
        </p:spPr>
        <p:txBody>
          <a:bodyPr wrap="square" anchor="t" lIns="0" rIns="0" tIns="0" bIns="0">
            <a:spAutoFit/>
          </a:bodyPr>
          <a:lstStyle/>
          <a:p>
            <a:pPr algn="l">
              <a:lnSpc>
                <a:spcPct val="120000"/>
              </a:lnSpc>
            </a:pPr>
            <a:r>
              <a:rPr sz="1300" b="0">
                <a:solidFill>
                  <a:srgbClr val="9FACC4"/>
                </a:solidFill>
                <a:latin typeface="Segoe UI"/>
              </a:rPr>
              <a:t>Total annual spend on running the VMware estate. A single number is enough; the split can be ours.</a:t>
            </a:r>
          </a:p>
        </p:txBody>
      </p:sp>
      <p:sp>
        <p:nvSpPr>
          <p:cNvPr id="14" name="Rounded Rectangle 13"/>
          <p:cNvSpPr/>
          <p:nvPr/>
        </p:nvSpPr>
        <p:spPr>
          <a:xfrm>
            <a:off x="777240" y="4434840"/>
            <a:ext cx="475488" cy="475488"/>
          </a:xfrm>
          <a:prstGeom prst="roundRect">
            <a:avLst/>
          </a:prstGeom>
          <a:solidFill>
            <a:srgbClr val="7A5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535424"/>
            <a:ext cx="475488" cy="320040"/>
          </a:xfrm>
          <a:prstGeom prst="rect">
            <a:avLst/>
          </a:prstGeom>
          <a:noFill/>
        </p:spPr>
        <p:txBody>
          <a:bodyPr wrap="square" anchor="t" lIns="0" rIns="0" tIns="0" bIns="0">
            <a:spAutoFit/>
          </a:bodyPr>
          <a:lstStyle/>
          <a:p>
            <a:pPr algn="ctr">
              <a:lnSpc>
                <a:spcPct val="100000"/>
              </a:lnSpc>
            </a:pPr>
            <a:r>
              <a:rPr sz="1500" b="1">
                <a:solidFill>
                  <a:srgbClr val="E8EDF7"/>
                </a:solidFill>
                <a:latin typeface="Segoe UI"/>
              </a:rPr>
              <a:t>3</a:t>
            </a:r>
          </a:p>
        </p:txBody>
      </p:sp>
      <p:sp>
        <p:nvSpPr>
          <p:cNvPr id="16" name="TextBox 15"/>
          <p:cNvSpPr txBox="1"/>
          <p:nvPr/>
        </p:nvSpPr>
        <p:spPr>
          <a:xfrm>
            <a:off x="1490472" y="4434840"/>
            <a:ext cx="3200400" cy="365760"/>
          </a:xfrm>
          <a:prstGeom prst="rect">
            <a:avLst/>
          </a:prstGeom>
          <a:noFill/>
        </p:spPr>
        <p:txBody>
          <a:bodyPr wrap="square" anchor="t" lIns="0" rIns="0" tIns="0" bIns="0">
            <a:spAutoFit/>
          </a:bodyPr>
          <a:lstStyle/>
          <a:p>
            <a:pPr algn="l">
              <a:lnSpc>
                <a:spcPct val="100000"/>
              </a:lnSpc>
            </a:pPr>
            <a:r>
              <a:rPr sz="1600" b="1">
                <a:solidFill>
                  <a:srgbClr val="E8EDF7"/>
                </a:solidFill>
                <a:latin typeface="Segoe UI"/>
              </a:rPr>
              <a:t>A two-hour working session</a:t>
            </a:r>
          </a:p>
        </p:txBody>
      </p:sp>
      <p:sp>
        <p:nvSpPr>
          <p:cNvPr id="17" name="TextBox 16"/>
          <p:cNvSpPr txBox="1"/>
          <p:nvPr/>
        </p:nvSpPr>
        <p:spPr>
          <a:xfrm>
            <a:off x="4892040" y="4462272"/>
            <a:ext cx="6766560" cy="640080"/>
          </a:xfrm>
          <a:prstGeom prst="rect">
            <a:avLst/>
          </a:prstGeom>
          <a:noFill/>
        </p:spPr>
        <p:txBody>
          <a:bodyPr wrap="square" anchor="t" lIns="0" rIns="0" tIns="0" bIns="0">
            <a:spAutoFit/>
          </a:bodyPr>
          <a:lstStyle/>
          <a:p>
            <a:pPr algn="l">
              <a:lnSpc>
                <a:spcPct val="120000"/>
              </a:lnSpc>
            </a:pPr>
            <a:r>
              <a:rPr sz="1300" b="0">
                <a:solidFill>
                  <a:srgbClr val="9FACC4"/>
                </a:solidFill>
                <a:latin typeface="Segoe UI"/>
              </a:rPr>
              <a:t>We walk the seven acts live, change assumptions in the room, and settle the ones that matter to you.</a:t>
            </a:r>
          </a:p>
        </p:txBody>
      </p:sp>
      <p:sp>
        <p:nvSpPr>
          <p:cNvPr id="18" name="Rounded Rectangle 17"/>
          <p:cNvSpPr/>
          <p:nvPr/>
        </p:nvSpPr>
        <p:spPr>
          <a:xfrm>
            <a:off x="777240" y="5303520"/>
            <a:ext cx="475488" cy="475488"/>
          </a:xfrm>
          <a:prstGeom prst="roundRect">
            <a:avLst/>
          </a:prstGeom>
          <a:solidFill>
            <a:srgbClr val="7A5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404104"/>
            <a:ext cx="475488" cy="320040"/>
          </a:xfrm>
          <a:prstGeom prst="rect">
            <a:avLst/>
          </a:prstGeom>
          <a:noFill/>
        </p:spPr>
        <p:txBody>
          <a:bodyPr wrap="square" anchor="t" lIns="0" rIns="0" tIns="0" bIns="0">
            <a:spAutoFit/>
          </a:bodyPr>
          <a:lstStyle/>
          <a:p>
            <a:pPr algn="ctr">
              <a:lnSpc>
                <a:spcPct val="100000"/>
              </a:lnSpc>
            </a:pPr>
            <a:r>
              <a:rPr sz="1500" b="1">
                <a:solidFill>
                  <a:srgbClr val="E8EDF7"/>
                </a:solidFill>
                <a:latin typeface="Segoe UI"/>
              </a:rPr>
              <a:t>4</a:t>
            </a:r>
          </a:p>
        </p:txBody>
      </p:sp>
      <p:sp>
        <p:nvSpPr>
          <p:cNvPr id="20" name="TextBox 19"/>
          <p:cNvSpPr txBox="1"/>
          <p:nvPr/>
        </p:nvSpPr>
        <p:spPr>
          <a:xfrm>
            <a:off x="1490472" y="5303520"/>
            <a:ext cx="3200400" cy="365760"/>
          </a:xfrm>
          <a:prstGeom prst="rect">
            <a:avLst/>
          </a:prstGeom>
          <a:noFill/>
        </p:spPr>
        <p:txBody>
          <a:bodyPr wrap="square" anchor="t" lIns="0" rIns="0" tIns="0" bIns="0">
            <a:spAutoFit/>
          </a:bodyPr>
          <a:lstStyle/>
          <a:p>
            <a:pPr algn="l">
              <a:lnSpc>
                <a:spcPct val="100000"/>
              </a:lnSpc>
            </a:pPr>
            <a:r>
              <a:rPr sz="1600" b="1">
                <a:solidFill>
                  <a:srgbClr val="E8EDF7"/>
                </a:solidFill>
                <a:latin typeface="Segoe UI"/>
              </a:rPr>
              <a:t>A defensible business case</a:t>
            </a:r>
          </a:p>
        </p:txBody>
      </p:sp>
      <p:sp>
        <p:nvSpPr>
          <p:cNvPr id="21" name="TextBox 20"/>
          <p:cNvSpPr txBox="1"/>
          <p:nvPr/>
        </p:nvSpPr>
        <p:spPr>
          <a:xfrm>
            <a:off x="4892040" y="5330952"/>
            <a:ext cx="6766560" cy="640080"/>
          </a:xfrm>
          <a:prstGeom prst="rect">
            <a:avLst/>
          </a:prstGeom>
          <a:noFill/>
        </p:spPr>
        <p:txBody>
          <a:bodyPr wrap="square" anchor="t" lIns="0" rIns="0" tIns="0" bIns="0">
            <a:spAutoFit/>
          </a:bodyPr>
          <a:lstStyle/>
          <a:p>
            <a:pPr algn="l">
              <a:lnSpc>
                <a:spcPct val="120000"/>
              </a:lnSpc>
            </a:pPr>
            <a:r>
              <a:rPr sz="1300" b="0">
                <a:solidFill>
                  <a:srgbClr val="9FACC4"/>
                </a:solidFill>
                <a:latin typeface="Segoe UI"/>
              </a:rPr>
              <a:t>Priced against live rates, with every assumption named and every table exportable.</a:t>
            </a:r>
          </a:p>
        </p:txBody>
      </p:sp>
      <p:sp>
        <p:nvSpPr>
          <p:cNvPr id="22" name="Rectangle 21"/>
          <p:cNvSpPr/>
          <p:nvPr/>
        </p:nvSpPr>
        <p:spPr>
          <a:xfrm>
            <a:off x="777240" y="6172200"/>
            <a:ext cx="3840480" cy="18288"/>
          </a:xfrm>
          <a:prstGeom prst="rect">
            <a:avLst/>
          </a:prstGeom>
          <a:solidFill>
            <a:srgbClr val="2A3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6355080"/>
            <a:ext cx="7315200" cy="365760"/>
          </a:xfrm>
          <a:prstGeom prst="rect">
            <a:avLst/>
          </a:prstGeom>
          <a:noFill/>
        </p:spPr>
        <p:txBody>
          <a:bodyPr wrap="square" anchor="t" lIns="0" rIns="0" tIns="0" bIns="0">
            <a:spAutoFit/>
          </a:bodyPr>
          <a:lstStyle/>
          <a:p>
            <a:pPr algn="l">
              <a:lnSpc>
                <a:spcPct val="100000"/>
              </a:lnSpc>
            </a:pPr>
            <a:r>
              <a:rPr sz="1300" b="1">
                <a:solidFill>
                  <a:srgbClr val="E8EDF7"/>
                </a:solidFill>
                <a:latin typeface="Consolas"/>
              </a:rPr>
              <a:t>onpremtocloud.streamlit.app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